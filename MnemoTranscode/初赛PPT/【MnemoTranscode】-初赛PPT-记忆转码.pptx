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2" d="100"/>
          <a:sy n="212" d="100"/>
        </p:scale>
        <p:origin x="100" y="1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8486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00BFA5">
              <a:alpha val="15000"/>
            </a:srgbClr>
          </a:solidFill>
          <a:ln w="12700">
            <a:solidFill>
              <a:srgbClr val="00BFA5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F5C842">
              <a:alpha val="10000"/>
            </a:srgbClr>
          </a:solidFill>
          <a:ln w="12700">
            <a:solidFill>
              <a:srgbClr val="F5C842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02920"/>
            <a:ext cx="1005840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MnemoTranscode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关系档案 · AI 生命故事平台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声音 · 照片 · 文字 · 情感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存档、整理与叙事还原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 技能节  · 初赛展示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Fish-under-sea / MnemoTranscode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· Emotion · Heritage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54864" cy="3657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目录  CONTENTS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本次汇报结构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64008" cy="9144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54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153619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痛点与机会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问题发现与市场潜力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92040" y="146304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463040"/>
            <a:ext cx="64008" cy="9144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554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0" y="153619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产品定义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1965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 是什么，解决什么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560320"/>
            <a:ext cx="64008" cy="9144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6517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94360" y="26334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技术架构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" y="3063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AI核心管线与工程实现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256032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2560320"/>
            <a:ext cx="64008" cy="9144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6517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29200" y="26334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已完成成果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0" y="3063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功能演示清单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657600"/>
            <a:ext cx="64008" cy="9144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749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94360" y="37307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实机演示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4360" y="4160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现场 Live Demo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92040" y="365760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92040" y="3657600"/>
            <a:ext cx="64008" cy="9144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3749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029200" y="37307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商业模式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029200" y="4160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盈利路径与规划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54864" cy="3657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痛点分析  Pain Point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每一段关系叙事，都值得被接住</a:t>
            </a:r>
            <a:endParaRPr lang="en-US" sz="3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548640"/>
            <a:ext cx="822960" cy="822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417320"/>
            <a:ext cx="3474720" cy="1463040"/>
          </a:xfrm>
          <a:prstGeom prst="rect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5087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2.8亿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457200" y="2286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60岁以上老人面临记忆断层风险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14800" y="1417320"/>
            <a:ext cx="4754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0" y="1417320"/>
            <a:ext cx="54864" cy="10058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24528" y="14630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个体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224528" y="14630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声音永远消失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224528" y="1828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至亲离世，声音与故事随之永久消亡，无法找回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114800" y="2514600"/>
            <a:ext cx="4754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114800" y="2514600"/>
            <a:ext cx="54864" cy="100584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24528" y="25603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8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家族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224528" y="25603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三代记忆断层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224528" y="29260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后代不知根在哪，家族历史在两代人间悄然断绝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114800" y="3611880"/>
            <a:ext cx="4754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114800" y="3611880"/>
            <a:ext cx="54864" cy="100584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24528" y="36576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社会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224528" y="36576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口述历史灭失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224528" y="40233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民间珍贵记忆大规模消亡，非遗文化无法传承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720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我们想做的不是泛娱乐 App——而是用工程与时间赛跑，为「关系与故事」留出数字锚点。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54864" cy="3657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产品定义  Product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00BFA5">
              <a:alpha val="10000"/>
            </a:srgbClr>
          </a:solidFill>
          <a:ln w="12700">
            <a:solidFill>
              <a:srgbClr val="00BFA5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MnemoTranscode 是什么？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“人的记忆是一种不讲道理的存储介质。\n这个项目的意义，就是把这些失衡的记忆碎片提取出来，\n完成从生物硬盘到数字硬盘的格式转换。”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82805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2537085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主动挖掘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281140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引导式提问，从碎片中还原完整叙事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22885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3177165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声音克隆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005840" y="345148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CosyVoice 还原逝去的声音轨迹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862965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3817245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故事书生成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05840" y="409156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四种写作风格，生成可传代的生命档案</a:t>
            </a:r>
            <a:endParaRPr lang="en-US" sz="11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503045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5840" y="4457325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记忆胶囊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1005840" y="473164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定时加密，锁定期保护，到期自动开启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446520" y="1531245"/>
            <a:ext cx="2560320" cy="3474720"/>
          </a:xfrm>
          <a:prstGeom prst="rect">
            <a:avLst/>
          </a:prstGeom>
          <a:solidFill>
            <a:srgbClr val="252B50"/>
          </a:solidFill>
          <a:ln w="12700">
            <a:solidFill>
              <a:srgbClr val="3A4070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446520" y="1622685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目标用户群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537960" y="2079885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银发家庭（60+老人子女）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537960" y="2591949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异地恋人 / 挚友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537960" y="3104013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家族史研究者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537960" y="3616077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历史口述记录者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537960" y="4128141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非遗文化传承人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54864" cy="3657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竞品分析  Competitive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人无我有的差异化优势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828800" cy="457200"/>
          </a:xfrm>
          <a:prstGeom prst="rect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1463040"/>
            <a:ext cx="1234440" cy="457200"/>
          </a:xfrm>
          <a:prstGeom prst="rect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4630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照片存储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20440" y="1463040"/>
            <a:ext cx="1417320" cy="457200"/>
          </a:xfrm>
          <a:prstGeom prst="rect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4630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引导挖掘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1463040"/>
            <a:ext cx="1234440" cy="457200"/>
          </a:xfrm>
          <a:prstGeom prst="rect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4630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声音克隆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463040"/>
            <a:ext cx="1417320" cy="457200"/>
          </a:xfrm>
          <a:prstGeom prst="rect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4630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故事书生成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89520" y="1463040"/>
            <a:ext cx="1554480" cy="457200"/>
          </a:xfrm>
          <a:prstGeom prst="rect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0" y="1463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记忆胶囊传代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1920240"/>
            <a:ext cx="1828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时光相册 / 美篇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86000" y="1920240"/>
            <a:ext cx="1234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0" y="19202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520440" y="1920240"/>
            <a:ext cx="1417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19202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937760" y="1920240"/>
            <a:ext cx="1234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9202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2200" y="1920240"/>
            <a:ext cx="1417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19202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589520" y="1920240"/>
            <a:ext cx="1554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0" y="1920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200" y="2560320"/>
            <a:ext cx="1828800" cy="640080"/>
          </a:xfrm>
          <a:prstGeom prst="rect">
            <a:avLst/>
          </a:prstGeom>
          <a:solidFill>
            <a:srgbClr val="EAEEF6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560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微软数字永生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286000" y="2560320"/>
            <a:ext cx="1234440" cy="640080"/>
          </a:xfrm>
          <a:prstGeom prst="rect">
            <a:avLst/>
          </a:prstGeom>
          <a:solidFill>
            <a:srgbClr val="EAEEF6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0" y="25603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520440" y="2560320"/>
            <a:ext cx="1417320" cy="640080"/>
          </a:xfrm>
          <a:prstGeom prst="rect">
            <a:avLst/>
          </a:prstGeom>
          <a:solidFill>
            <a:srgbClr val="EAEEF6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20440" y="25603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937760" y="2560320"/>
            <a:ext cx="1234440" cy="640080"/>
          </a:xfrm>
          <a:prstGeom prst="rect">
            <a:avLst/>
          </a:prstGeom>
          <a:solidFill>
            <a:srgbClr val="EAEEF6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25603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72200" y="2560320"/>
            <a:ext cx="1417320" cy="640080"/>
          </a:xfrm>
          <a:prstGeom prst="rect">
            <a:avLst/>
          </a:prstGeom>
          <a:solidFill>
            <a:srgbClr val="EAEEF6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25603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589520" y="2560320"/>
            <a:ext cx="1554480" cy="640080"/>
          </a:xfrm>
          <a:prstGeom prst="rect">
            <a:avLst/>
          </a:prstGeom>
          <a:solidFill>
            <a:srgbClr val="EAEEF6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89520" y="25603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57200" y="3200400"/>
            <a:ext cx="1828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3200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苹果回忆功能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286000" y="3200400"/>
            <a:ext cx="1234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86000" y="32004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520440" y="3200400"/>
            <a:ext cx="1417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20440" y="32004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937760" y="3200400"/>
            <a:ext cx="1234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37760" y="32004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72200" y="3200400"/>
            <a:ext cx="1417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72200" y="32004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589520" y="3200400"/>
            <a:ext cx="1554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89520" y="3200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57200" y="3840480"/>
            <a:ext cx="1828800" cy="640080"/>
          </a:xfrm>
          <a:prstGeom prst="rect">
            <a:avLst/>
          </a:prstGeom>
          <a:solidFill>
            <a:srgbClr val="E8F8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3840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MTC（我们）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2286000" y="3840480"/>
            <a:ext cx="1234440" cy="640080"/>
          </a:xfrm>
          <a:prstGeom prst="rect">
            <a:avLst/>
          </a:prstGeom>
          <a:solidFill>
            <a:srgbClr val="E8F8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86000" y="38404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3520440" y="3840480"/>
            <a:ext cx="1417320" cy="640080"/>
          </a:xfrm>
          <a:prstGeom prst="rect">
            <a:avLst/>
          </a:prstGeom>
          <a:solidFill>
            <a:srgbClr val="E8F8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520440" y="38404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937760" y="3840480"/>
            <a:ext cx="1234440" cy="640080"/>
          </a:xfrm>
          <a:prstGeom prst="rect">
            <a:avLst/>
          </a:prstGeom>
          <a:solidFill>
            <a:srgbClr val="E8F8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37760" y="38404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172200" y="3840480"/>
            <a:ext cx="1417320" cy="640080"/>
          </a:xfrm>
          <a:prstGeom prst="rect">
            <a:avLst/>
          </a:prstGeom>
          <a:solidFill>
            <a:srgbClr val="E8F8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72200" y="38404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7589520" y="3840480"/>
            <a:ext cx="1554480" cy="640080"/>
          </a:xfrm>
          <a:prstGeom prst="rect">
            <a:avLst/>
          </a:prstGeom>
          <a:solidFill>
            <a:srgbClr val="E8F8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89520" y="3840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457200" y="4480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全球目前没有竞品同时具备：AI 主动引导挖掘 + 声音克隆 + 定时胶囊传代 三项能力的完整闭环产品。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54864" cy="3657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技术框架  Tech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从碎片输入到叙事输出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2011680" cy="3383280"/>
          </a:xfrm>
          <a:prstGeom prst="rect">
            <a:avLst/>
          </a:prstGeom>
          <a:solidFill>
            <a:srgbClr val="3D5A80">
              <a:alpha val="70000"/>
            </a:srgbClr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17320"/>
            <a:ext cx="2011680" cy="438912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173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文字录入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6243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照片·视频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28269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音频采集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9410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聊天记录导入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41448" y="3017520"/>
            <a:ext cx="146304" cy="5486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06040" y="1417320"/>
            <a:ext cx="2011680" cy="3383280"/>
          </a:xfrm>
          <a:prstGeom prst="rect">
            <a:avLst/>
          </a:prstGeom>
          <a:solidFill>
            <a:srgbClr val="006D5B">
              <a:alpha val="70000"/>
            </a:srgbClr>
          </a:solidFill>
          <a:ln w="12700">
            <a:solidFill>
              <a:srgbClr val="006D5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1417320"/>
            <a:ext cx="2011680" cy="438912"/>
          </a:xfrm>
          <a:prstGeom prst="rect">
            <a:avLst/>
          </a:prstGeom>
          <a:solidFill>
            <a:srgbClr val="006D5B"/>
          </a:solidFill>
          <a:ln w="12700">
            <a:solidFill>
              <a:srgbClr val="006D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14173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核心层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9748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多厂商 LLM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97480" y="26243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Mnemo / Engram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97480" y="328269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故事书生成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97480" y="39410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语义检索·召回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36008" y="3017520"/>
            <a:ext cx="146304" cy="5486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1417320"/>
            <a:ext cx="2011680" cy="3383280"/>
          </a:xfrm>
          <a:prstGeom prst="rect">
            <a:avLst/>
          </a:prstGeom>
          <a:solidFill>
            <a:srgbClr val="7B3F8C">
              <a:alpha val="70000"/>
            </a:srgbClr>
          </a:solidFill>
          <a:ln w="12700">
            <a:solidFill>
              <a:srgbClr val="7B3F8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1417320"/>
            <a:ext cx="2011680" cy="438912"/>
          </a:xfrm>
          <a:prstGeom prst="rect">
            <a:avLst/>
          </a:prstGeom>
          <a:solidFill>
            <a:srgbClr val="7B3F8C"/>
          </a:solidFill>
          <a:ln w="12700">
            <a:solidFill>
              <a:srgbClr val="7B3F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4173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存储层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PostgreSQL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26243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Qdrant 向量库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328269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MinIO 媒体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39410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Redis + Celery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30568" y="3017520"/>
            <a:ext cx="146304" cy="5486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95160" y="1417320"/>
            <a:ext cx="2011680" cy="3383280"/>
          </a:xfrm>
          <a:prstGeom prst="rect">
            <a:avLst/>
          </a:prstGeom>
          <a:solidFill>
            <a:srgbClr val="8C4A1A">
              <a:alpha val="70000"/>
            </a:srgbClr>
          </a:solidFill>
          <a:ln w="12700">
            <a:solidFill>
              <a:srgbClr val="8C4A1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95160" y="1417320"/>
            <a:ext cx="2011680" cy="438912"/>
          </a:xfrm>
          <a:prstGeom prst="rect">
            <a:avLst/>
          </a:prstGeom>
          <a:solidFill>
            <a:srgbClr val="8C4A1A"/>
          </a:solidFill>
          <a:ln w="12700">
            <a:solidFill>
              <a:srgbClr val="8C4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14173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输出层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8660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关系档案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86600" y="26243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记忆时间线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086600" y="328269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 对话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86600" y="39410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记忆胶囊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11480" y="4892040"/>
            <a:ext cx="2011680" cy="274320"/>
          </a:xfrm>
          <a:prstGeom prst="rect">
            <a:avLst/>
          </a:prstGeom>
          <a:solidFill>
            <a:srgbClr val="2A2F55"/>
          </a:solidFill>
          <a:ln w="12700">
            <a:solidFill>
              <a:srgbClr val="3A40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892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TypeScript · Vite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606040" y="4892040"/>
            <a:ext cx="2011680" cy="274320"/>
          </a:xfrm>
          <a:prstGeom prst="rect">
            <a:avLst/>
          </a:prstGeom>
          <a:solidFill>
            <a:srgbClr val="2A2F55"/>
          </a:solidFill>
          <a:ln w="12700">
            <a:solidFill>
              <a:srgbClr val="3A40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06040" y="4892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Python 3.11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00600" y="4892040"/>
            <a:ext cx="2011680" cy="274320"/>
          </a:xfrm>
          <a:prstGeom prst="rect">
            <a:avLst/>
          </a:prstGeom>
          <a:solidFill>
            <a:srgbClr val="2A2F55"/>
          </a:solidFill>
          <a:ln w="12700">
            <a:solidFill>
              <a:srgbClr val="3A40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4892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995160" y="4892040"/>
            <a:ext cx="2011680" cy="274320"/>
          </a:xfrm>
          <a:prstGeom prst="rect">
            <a:avLst/>
          </a:prstGeom>
          <a:solidFill>
            <a:srgbClr val="2A2F55"/>
          </a:solidFill>
          <a:ln w="12700">
            <a:solidFill>
              <a:srgbClr val="3A40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95160" y="4892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CI/CD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54864" cy="3657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AI 协同  AI Collaboration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不是工具，是协作团队成员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08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多分支并行开发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4864" cy="3200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659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 —  稳定版本主分支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54864" cy="3200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468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/ agent  —  专项调试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54864" cy="3200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9718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krio / cursor / Codex / Gemini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54864" cy="3200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474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/ Sonnet / Composer  —  各AI独立分支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977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AI 协同规则体系：22 个 Skills 模块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3159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chinese-code-review · subagent-driven-development · ui-ux-pro-max · systematic-debugging ...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1417320"/>
            <a:ext cx="3931920" cy="1554480"/>
          </a:xfrm>
          <a:prstGeom prst="rect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5087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6.4亿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4846320" y="2377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 总消耗量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315468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3154680"/>
            <a:ext cx="54864" cy="8046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2004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63.6%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93776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claude-opus-4-7-thinking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3547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主力模型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4050792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4050792"/>
            <a:ext cx="54864" cy="80467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409651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36.4%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937760" y="40965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多模型协同验证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44439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· Gemini · Sonnet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54864" cy="3657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已有成果  What We've Built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核心功能全链路已上线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2763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5179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关系档案 &amp; 成员管理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78992" y="18470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六种档案类型；头像、状态语义、CRUD 全在线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206240" y="1600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846320" y="146304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62763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68112" y="15179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记忆管理 &amp; 媒体存档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68112" y="18470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情感·时间·地点元数据；SSE 聊天导出；MinIO 媒体桶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595360" y="1600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57200" y="2359152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523744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78992" y="24140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角色扮演对话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078992" y="27432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记忆上下文注入；多轮对话已跑通；打字机效果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206240" y="249631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4846320" y="2359152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2523744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68112" y="24140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故事书生成 &amp; PDF导出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468112" y="27432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四种写作风格，基于记忆AI生成生命故事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8595360" y="249631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457200" y="3255264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3419856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78992" y="33101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交互时间线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078992" y="36393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情感/成员/时间三维筛选，可视化记忆脉络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4206240" y="339242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0" name="Shape 23"/>
          <p:cNvSpPr/>
          <p:nvPr/>
        </p:nvSpPr>
        <p:spPr>
          <a:xfrm>
            <a:off x="4846320" y="3255264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6048" y="3419856"/>
            <a:ext cx="411480" cy="411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468112" y="33101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记忆胶囊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5468112" y="36393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定时加密解封，锁定期保护，到期自动开启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8595360" y="339242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5" name="Shape 27"/>
          <p:cNvSpPr/>
          <p:nvPr/>
        </p:nvSpPr>
        <p:spPr>
          <a:xfrm>
            <a:off x="457200" y="4151376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" y="4315968"/>
            <a:ext cx="411480" cy="41148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078992" y="4206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语义检索 + 关系网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1078992" y="453542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语义检索；Engram 力导向关系图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4206240" y="428853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0" name="Shape 31"/>
          <p:cNvSpPr/>
          <p:nvPr/>
        </p:nvSpPr>
        <p:spPr>
          <a:xfrm>
            <a:off x="4846320" y="4151376"/>
            <a:ext cx="4114800" cy="804672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6048" y="4315968"/>
            <a:ext cx="411480" cy="41148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468112" y="4206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声音克隆（进行中）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5468112" y="453542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CosyVoice · TTS 基座已通；声纹克隆规划中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00BFA5">
              <a:alpha val="15000"/>
            </a:srgbClr>
          </a:solidFill>
          <a:ln w="12700">
            <a:solidFill>
              <a:srgbClr val="00BFA5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2286000"/>
            <a:ext cx="1828800" cy="1828800"/>
          </a:xfrm>
          <a:prstGeom prst="ellipse">
            <a:avLst/>
          </a:prstGeom>
          <a:solidFill>
            <a:srgbClr val="F5C842">
              <a:alpha val="12000"/>
            </a:srgbClr>
          </a:solidFill>
          <a:ln w="12700">
            <a:solidFill>
              <a:srgbClr val="F5C842">
                <a:alpha val="12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73736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实机演示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kern="0" spc="8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54864" cy="3657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1/4  实机演示  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创建关系档案 &amp; 录入记忆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02920" cy="50292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48132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 / 注册账号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81051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进入 MnemoTranscode Web 主界面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76656" y="2057400"/>
            <a:ext cx="54864" cy="320040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95728"/>
            <a:ext cx="502920" cy="50292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32257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新建关系档案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6517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选择「至亲」类型，填写基本信息与关系描述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" y="2898648"/>
            <a:ext cx="54864" cy="320040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236976"/>
            <a:ext cx="502920" cy="50292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36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163824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添加记忆条目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49300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上传照片，填写时间、地点与情感标签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" y="3739896"/>
            <a:ext cx="54864" cy="320040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078224"/>
            <a:ext cx="502920" cy="50292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078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400507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查看记忆时间线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433425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三维筛选：情感 / 成员 / 时间可视化浏览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0" y="1371600"/>
            <a:ext cx="3108960" cy="3566160"/>
          </a:xfrm>
          <a:prstGeom prst="rect">
            <a:avLst/>
          </a:prstGeom>
          <a:solidFill>
            <a:srgbClr val="E8EDF5"/>
          </a:solidFill>
          <a:ln w="12700">
            <a:solidFill>
              <a:srgbClr val="C0CC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2834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演示截图 / 屏幕共享 ]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0" y="3429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实际演示时替换为应用截图</a:t>
            </a:r>
            <a:endParaRPr lang="en-US" sz="900" dirty="0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71ABAF97-359E-1F35-FFC8-9F62495E1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371599"/>
            <a:ext cx="3108959" cy="35795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54864" cy="3657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2/4  实机演示  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zh-CN" alt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记忆神经网络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系统如何还原「那个人」的回应方式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029200" cy="685800"/>
          </a:xfrm>
          <a:prstGeom prst="rect">
            <a:avLst/>
          </a:prstGeom>
          <a:solidFill>
            <a:srgbClr val="252B50"/>
          </a:solidFill>
          <a:ln w="12700">
            <a:solidFill>
              <a:srgbClr val="3A40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74520"/>
            <a:ext cx="54864" cy="6858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20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选择档案成员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2128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点击档案中的成员，进入 AI 对话界面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5029200" cy="685800"/>
          </a:xfrm>
          <a:prstGeom prst="rect">
            <a:avLst/>
          </a:prstGeom>
          <a:solidFill>
            <a:srgbClr val="252B50"/>
          </a:solidFill>
          <a:ln w="12700">
            <a:solidFill>
              <a:srgbClr val="3A40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51760"/>
            <a:ext cx="54864" cy="6858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97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发送首条消息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9900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体验记忆上下文注入后的个性化回应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5029200" cy="685800"/>
          </a:xfrm>
          <a:prstGeom prst="rect">
            <a:avLst/>
          </a:prstGeom>
          <a:solidFill>
            <a:srgbClr val="252B50"/>
          </a:solidFill>
          <a:ln w="12700">
            <a:solidFill>
              <a:srgbClr val="3A40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429000"/>
            <a:ext cx="54864" cy="6858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474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多轮对话演示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37673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展示打字机效果与情感一致性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206240"/>
            <a:ext cx="5029200" cy="685800"/>
          </a:xfrm>
          <a:prstGeom prst="rect">
            <a:avLst/>
          </a:prstGeom>
          <a:solidFill>
            <a:srgbClr val="252B50"/>
          </a:solidFill>
          <a:ln w="12700">
            <a:solidFill>
              <a:srgbClr val="3A40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206240"/>
            <a:ext cx="54864" cy="6858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251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故事书生成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45445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基于记忆一键生成四种风格的叙事文本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60720" y="1371600"/>
            <a:ext cx="3017520" cy="3566160"/>
          </a:xfrm>
          <a:prstGeom prst="rect">
            <a:avLst/>
          </a:prstGeom>
          <a:solidFill>
            <a:srgbClr val="1E2445"/>
          </a:solidFill>
          <a:ln w="12700">
            <a:solidFill>
              <a:srgbClr val="3A40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2834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5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AI 对话界面截图 ]</a:t>
            </a:r>
            <a:endParaRPr lang="en-US" sz="1200" dirty="0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2DAB2D65-D248-1B74-3A69-4AAE0B0BE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325880"/>
            <a:ext cx="3164819" cy="36118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54864" cy="3657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3/4  实机演示  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记忆胶囊 &amp; 语义检索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3931920" cy="411480"/>
          </a:xfrm>
          <a:prstGeom prst="rect">
            <a:avLst/>
          </a:prstGeom>
          <a:solidFill>
            <a:srgbClr val="7B3F8C"/>
          </a:solidFill>
          <a:ln w="12700">
            <a:solidFill>
              <a:srgbClr val="7B3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记忆胶囊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创建胶囊，填写内容与加密说明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62432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设置开启时间（日期锁定）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28269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锁定期间内容受到保护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94106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到期自动解封，通知接收人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389120"/>
            <a:ext cx="3931920" cy="320040"/>
          </a:xfrm>
          <a:prstGeom prst="rect">
            <a:avLst/>
          </a:prstGeom>
          <a:solidFill>
            <a:srgbClr val="F0EAF5"/>
          </a:solidFill>
          <a:ln w="12700">
            <a:solidFill>
              <a:srgbClr val="C8B0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389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B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现场演示：创建一个30秒后解封的胶囊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41732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417320"/>
            <a:ext cx="4023360" cy="411480"/>
          </a:xfrm>
          <a:prstGeom prst="rect">
            <a:avLst/>
          </a:prstGeom>
          <a:solidFill>
            <a:srgbClr val="CC6600"/>
          </a:solidFill>
          <a:ln w="12700">
            <a:solidFill>
              <a:srgbClr val="CC66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4173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语义检索 + 关系网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19659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输入自然语言查询（如300c和她去海边300d）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262432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Qdrant 语义向量检索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28269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召回相关记忆条目并排序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394106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查看 Engram 力导向关系图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4389120"/>
            <a:ext cx="4023360" cy="320040"/>
          </a:xfrm>
          <a:prstGeom prst="rect">
            <a:avLst/>
          </a:prstGeom>
          <a:solidFill>
            <a:srgbClr val="FFF0E0"/>
          </a:solidFill>
          <a:ln w="12700">
            <a:solidFill>
              <a:srgbClr val="E8C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4389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现场演示：输入情感关键词查询记忆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54864" cy="3657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4/4  实机演示  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工程管理展示</a:t>
            </a:r>
            <a:endParaRPr lang="en-US" sz="3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5486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github.com/Fish-under-sea/MnemoTranscode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920240"/>
            <a:ext cx="8229600" cy="713232"/>
          </a:xfrm>
          <a:prstGeom prst="rect">
            <a:avLst/>
          </a:prstGeom>
          <a:solidFill>
            <a:srgbClr val="1E2445"/>
          </a:solidFill>
          <a:ln w="12700">
            <a:solidFill>
              <a:srgbClr val="2E3A6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920240"/>
            <a:ext cx="54864" cy="71323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19751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分支结构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2286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演示 main / debug / krio / cursor / Codex / Gemini 多分支并行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724912"/>
            <a:ext cx="8229600" cy="713232"/>
          </a:xfrm>
          <a:prstGeom prst="rect">
            <a:avLst/>
          </a:prstGeom>
          <a:solidFill>
            <a:srgbClr val="1E2445"/>
          </a:solidFill>
          <a:ln w="12700">
            <a:solidFill>
              <a:srgbClr val="2E3A6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724912"/>
            <a:ext cx="54864" cy="71323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27797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历史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" y="30906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展示 AI 协同提交记录与版本里程碑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3529584"/>
            <a:ext cx="8229600" cy="713232"/>
          </a:xfrm>
          <a:prstGeom prst="rect">
            <a:avLst/>
          </a:prstGeom>
          <a:solidFill>
            <a:srgbClr val="1E2445"/>
          </a:solidFill>
          <a:ln w="12700">
            <a:solidFill>
              <a:srgbClr val="2E3A6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3529584"/>
            <a:ext cx="54864" cy="71323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35844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&amp; Skills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0080" y="389534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打开 rules/ 与 skills/ 展示 AI 行为约束体系（22 个 Skills）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4334256"/>
            <a:ext cx="8229600" cy="713232"/>
          </a:xfrm>
          <a:prstGeom prst="rect">
            <a:avLst/>
          </a:prstGeom>
          <a:solidFill>
            <a:srgbClr val="1E2445"/>
          </a:solidFill>
          <a:ln w="12700">
            <a:solidFill>
              <a:srgbClr val="2E3A6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4334256"/>
            <a:ext cx="54864" cy="71323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4389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消耗截图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0080" y="47000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展示 6.4亿 tokens 的实际消耗证明截图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4572000" cy="4572000"/>
          </a:xfrm>
          <a:prstGeom prst="ellipse">
            <a:avLst/>
          </a:prstGeom>
          <a:solidFill>
            <a:srgbClr val="00BFA5">
              <a:alpha val="12000"/>
            </a:srgbClr>
          </a:solidFill>
          <a:ln w="12700">
            <a:solidFill>
              <a:srgbClr val="00BFA5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F5C842">
              <a:alpha val="10000"/>
            </a:srgbClr>
          </a:solidFill>
          <a:ln w="12700">
            <a:solidFill>
              <a:srgbClr val="F5C842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AI 守护每一段值得的关系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每年有大量关系叙事在失声：至亲至爱、文脉与故土，同样需要被接住。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我们做的是「记忆基础设施」，为每一段值得的关系，留下可追溯的内容与回声。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0" y="3246120"/>
            <a:ext cx="3657600" cy="43891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32461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github.com/Fish-under-sea/MnemoTranscode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3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MnemoTranscode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· Emotion · Heritage  —  MTC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680</Words>
  <Application>Microsoft Office PowerPoint</Application>
  <PresentationFormat>全屏显示(16:9)</PresentationFormat>
  <Paragraphs>235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凯 俞</cp:lastModifiedBy>
  <cp:revision>2</cp:revision>
  <dcterms:created xsi:type="dcterms:W3CDTF">2026-05-09T10:03:22Z</dcterms:created>
  <dcterms:modified xsi:type="dcterms:W3CDTF">2026-05-09T10:13:45Z</dcterms:modified>
</cp:coreProperties>
</file>