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1" r:id="rId10"/>
    <p:sldId id="262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520" autoAdjust="0"/>
  </p:normalViewPr>
  <p:slideViewPr>
    <p:cSldViewPr snapToGrid="0" snapToObjects="1">
      <p:cViewPr varScale="1">
        <p:scale>
          <a:sx n="68" d="100"/>
          <a:sy n="68" d="100"/>
        </p:scale>
        <p:origin x="72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034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904A"/>
          </a:solidFill>
          <a:ln w="12700">
            <a:solidFill>
              <a:srgbClr val="E89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3657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0" b="1" dirty="0">
                <a:solidFill>
                  <a:srgbClr val="FFFFFF">
                    <a:alpha val="8000"/>
                  </a:srgbClr>
                </a:solidFill>
              </a:rPr>
              <a:t>MTC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89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MnemoTranscode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关系档案 · AI 生命故事平台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5B87A"/>
                </a:solidFill>
              </a:rPr>
              <a:t>声音 · 照片 · 文字 · 情感 — 存档、整理与叙事还原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42032"/>
            <a:ext cx="4114800" cy="36576"/>
          </a:xfrm>
          <a:prstGeom prst="rect">
            <a:avLst/>
          </a:prstGeom>
          <a:solidFill>
            <a:srgbClr val="E8904A">
              <a:alpha val="60000"/>
            </a:srgbClr>
          </a:solidFill>
          <a:ln w="12700">
            <a:solidFill>
              <a:srgbClr val="E8904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</a:rPr>
              <a:t>2026 “创造者杯” AI协同创新项目路演竞赛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AACC"/>
                </a:solidFill>
              </a:rPr>
              <a:t>深圳城市职业学院 · 信通学院 · 人工智能技术应用专业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B87A"/>
                </a:solidFill>
              </a:rPr>
              <a:t>GitHub: Fish-under-sea / MnemoTranscode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4480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8904A"/>
                </a:solidFill>
              </a:rPr>
              <a:t>Memory · Emotion · Heritage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  痛点分析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5B87A"/>
                </a:solidFill>
              </a:rPr>
              <a:t>Pain Point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384048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9144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</a:rPr>
              <a:t>“</a:t>
            </a:r>
            <a:r>
              <a:rPr lang="en-US" sz="1600" i="1" dirty="0" err="1">
                <a:solidFill>
                  <a:srgbClr val="FFFFFF"/>
                </a:solidFill>
              </a:rPr>
              <a:t>每一段值得接住的关系叙事，都值得被系统化记录。并不止于纪念：恋人、挚友、伟人与故土记忆同样面临失真</a:t>
            </a:r>
            <a:r>
              <a:rPr lang="en-US" sz="1600" i="1" dirty="0">
                <a:solidFill>
                  <a:srgbClr val="FFFFFF"/>
                </a:solidFill>
              </a:rPr>
              <a:t>。”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291840" cy="36576"/>
          </a:xfrm>
          <a:prstGeom prst="rect">
            <a:avLst/>
          </a:prstGeom>
          <a:solidFill>
            <a:srgbClr val="E8904A"/>
          </a:solidFill>
          <a:ln w="12700">
            <a:solidFill>
              <a:srgbClr val="E8904A"/>
            </a:solidFill>
            <a:prstDash val="solid"/>
          </a:ln>
        </p:spPr>
      </p:sp>
      <p:sp>
        <p:nvSpPr>
          <p:cNvPr id="80" name="Stat_Number"/>
          <p:cNvSpPr/>
          <p:nvPr/>
        </p:nvSpPr>
        <p:spPr>
          <a:xfrm>
            <a:off x="540000" y="2556000"/>
            <a:ext cx="3491999" cy="46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3600" b="1" dirty="0">
                <a:solidFill>
                  <a:srgbClr val="E8904A"/>
                </a:solidFill>
              </a:rPr>
              <a:t>2.8亿</a:t>
            </a:r>
          </a:p>
          <a:p>
            <a:r>
              <a:rPr lang="zh-CN" sz="1100" dirty="0">
                <a:solidFill>
                  <a:srgbClr val="AAAACC"/>
                </a:solidFill>
              </a:rPr>
              <a:t>60岁以上老人正面临记忆断层风险</a:t>
            </a:r>
          </a:p>
        </p:txBody>
      </p:sp>
      <p:sp>
        <p:nvSpPr>
          <p:cNvPr id="81" name="ArchiveTag_家族"/>
          <p:cNvSpPr/>
          <p:nvPr/>
        </p:nvSpPr>
        <p:spPr>
          <a:xfrm>
            <a:off x="540000" y="3258000"/>
            <a:ext cx="1007999" cy="208800"/>
          </a:xfrm>
          <a:prstGeom prst="roundRect">
            <a:avLst>
              <a:gd name="adj" fmla="val 20000"/>
            </a:avLst>
          </a:prstGeom>
          <a:solidFill>
            <a:srgbClr val="2E8B7A" lumMod="70000" lumOff="30000"/>
          </a:solidFill>
          <a:ln w="9525">
            <a:solidFill>
              <a:srgbClr val="2E8B7A"/>
            </a:solidFill>
          </a:ln>
        </p:spPr>
        <p:txBody>
          <a:bodyPr anchor="ctr"/>
          <a:lstStyle/>
          <a:p>
            <a:pPr algn="ctr"/>
            <a:r>
              <a:rPr lang="zh-CN" sz="1000" b="1" dirty="0">
                <a:solidFill>
                  <a:srgbClr val="FFFFFF"/>
                </a:solidFill>
              </a:rPr>
              <a:t>家族</a:t>
            </a:r>
          </a:p>
        </p:txBody>
      </p:sp>
      <p:sp>
        <p:nvSpPr>
          <p:cNvPr id="82" name="ArchiveTag_恋人"/>
          <p:cNvSpPr/>
          <p:nvPr/>
        </p:nvSpPr>
        <p:spPr>
          <a:xfrm>
            <a:off x="1637999" y="3258000"/>
            <a:ext cx="1007999" cy="208800"/>
          </a:xfrm>
          <a:prstGeom prst="roundRect">
            <a:avLst>
              <a:gd name="adj" fmla="val 20000"/>
            </a:avLst>
          </a:prstGeom>
          <a:solidFill>
            <a:srgbClr val="E8904A" lumMod="70000" lumOff="30000"/>
          </a:solidFill>
          <a:ln w="9525">
            <a:solidFill>
              <a:srgbClr val="E8904A"/>
            </a:solidFill>
          </a:ln>
        </p:spPr>
        <p:txBody>
          <a:bodyPr anchor="ctr"/>
          <a:lstStyle/>
          <a:p>
            <a:pPr algn="ctr"/>
            <a:r>
              <a:rPr lang="zh-CN" sz="1000" b="1" dirty="0">
                <a:solidFill>
                  <a:srgbClr val="FFFFFF"/>
                </a:solidFill>
              </a:rPr>
              <a:t>恋人</a:t>
            </a:r>
          </a:p>
        </p:txBody>
      </p:sp>
      <p:sp>
        <p:nvSpPr>
          <p:cNvPr id="83" name="ArchiveTag_挚友"/>
          <p:cNvSpPr/>
          <p:nvPr/>
        </p:nvSpPr>
        <p:spPr>
          <a:xfrm>
            <a:off x="2735998" y="3258000"/>
            <a:ext cx="1007999" cy="208800"/>
          </a:xfrm>
          <a:prstGeom prst="roundRect">
            <a:avLst>
              <a:gd name="adj" fmla="val 20000"/>
            </a:avLst>
          </a:prstGeom>
          <a:solidFill>
            <a:srgbClr val="5B7DB8" lumMod="70000" lumOff="30000"/>
          </a:solidFill>
          <a:ln w="9525">
            <a:solidFill>
              <a:srgbClr val="5B7DB8"/>
            </a:solidFill>
          </a:ln>
        </p:spPr>
        <p:txBody>
          <a:bodyPr anchor="ctr"/>
          <a:lstStyle/>
          <a:p>
            <a:pPr algn="ctr"/>
            <a:r>
              <a:rPr lang="zh-CN" sz="1000" b="1" dirty="0">
                <a:solidFill>
                  <a:srgbClr val="FFFFFF"/>
                </a:solidFill>
              </a:rPr>
              <a:t>挚友</a:t>
            </a:r>
          </a:p>
        </p:txBody>
      </p:sp>
      <p:sp>
        <p:nvSpPr>
          <p:cNvPr id="84" name="ArchiveTag_至亲"/>
          <p:cNvSpPr/>
          <p:nvPr/>
        </p:nvSpPr>
        <p:spPr>
          <a:xfrm>
            <a:off x="540000" y="3538800"/>
            <a:ext cx="1007999" cy="208800"/>
          </a:xfrm>
          <a:prstGeom prst="roundRect">
            <a:avLst>
              <a:gd name="adj" fmla="val 20000"/>
            </a:avLst>
          </a:prstGeom>
          <a:solidFill>
            <a:srgbClr val="7B5EA7" lumMod="70000" lumOff="30000"/>
          </a:solidFill>
          <a:ln w="9525">
            <a:solidFill>
              <a:srgbClr val="7B5EA7"/>
            </a:solidFill>
          </a:ln>
        </p:spPr>
        <p:txBody>
          <a:bodyPr anchor="ctr"/>
          <a:lstStyle/>
          <a:p>
            <a:pPr algn="ctr"/>
            <a:r>
              <a:rPr lang="zh-CN" sz="1000" b="1" dirty="0">
                <a:solidFill>
                  <a:srgbClr val="FFFFFF"/>
                </a:solidFill>
              </a:rPr>
              <a:t>至亲</a:t>
            </a:r>
          </a:p>
        </p:txBody>
      </p:sp>
      <p:sp>
        <p:nvSpPr>
          <p:cNvPr id="85" name="ArchiveTag_伟人"/>
          <p:cNvSpPr/>
          <p:nvPr/>
        </p:nvSpPr>
        <p:spPr>
          <a:xfrm>
            <a:off x="1637999" y="3538800"/>
            <a:ext cx="1007999" cy="208800"/>
          </a:xfrm>
          <a:prstGeom prst="roundRect">
            <a:avLst>
              <a:gd name="adj" fmla="val 20000"/>
            </a:avLst>
          </a:prstGeom>
          <a:solidFill>
            <a:srgbClr val="B85042" lumMod="70000" lumOff="30000"/>
          </a:solidFill>
          <a:ln w="9525">
            <a:solidFill>
              <a:srgbClr val="B85042"/>
            </a:solidFill>
          </a:ln>
        </p:spPr>
        <p:txBody>
          <a:bodyPr anchor="ctr"/>
          <a:lstStyle/>
          <a:p>
            <a:pPr algn="ctr"/>
            <a:r>
              <a:rPr lang="zh-CN" sz="1000" b="1" dirty="0">
                <a:solidFill>
                  <a:srgbClr val="FFFFFF"/>
                </a:solidFill>
              </a:rPr>
              <a:t>伟人</a:t>
            </a:r>
          </a:p>
        </p:txBody>
      </p:sp>
      <p:sp>
        <p:nvSpPr>
          <p:cNvPr id="86" name="ArchiveTag_国家历史"/>
          <p:cNvSpPr/>
          <p:nvPr/>
        </p:nvSpPr>
        <p:spPr>
          <a:xfrm>
            <a:off x="2735998" y="3538800"/>
            <a:ext cx="1007999" cy="208800"/>
          </a:xfrm>
          <a:prstGeom prst="roundRect">
            <a:avLst>
              <a:gd name="adj" fmla="val 20000"/>
            </a:avLst>
          </a:prstGeom>
          <a:solidFill>
            <a:srgbClr val="666688" lumMod="70000" lumOff="30000"/>
          </a:solidFill>
          <a:ln w="9525">
            <a:solidFill>
              <a:srgbClr val="666688"/>
            </a:solidFill>
          </a:ln>
        </p:spPr>
        <p:txBody>
          <a:bodyPr anchor="ctr"/>
          <a:lstStyle/>
          <a:p>
            <a:pPr algn="ctr"/>
            <a:r>
              <a:rPr lang="zh-CN" sz="1000" b="1" dirty="0">
                <a:solidFill>
                  <a:srgbClr val="FFFFFF"/>
                </a:solidFill>
              </a:rPr>
              <a:t>国家历史</a:t>
            </a:r>
          </a:p>
        </p:txBody>
      </p:sp>
      <p:sp>
        <p:nvSpPr>
          <p:cNvPr id="9" name="Shape 7"/>
          <p:cNvSpPr/>
          <p:nvPr/>
        </p:nvSpPr>
        <p:spPr>
          <a:xfrm>
            <a:off x="4434840" y="658368"/>
            <a:ext cx="4480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658368"/>
            <a:ext cx="109728" cy="1051560"/>
          </a:xfrm>
          <a:prstGeom prst="rect">
            <a:avLst/>
          </a:prstGeom>
          <a:solidFill>
            <a:srgbClr val="E8904A"/>
          </a:solidFill>
          <a:ln w="12700">
            <a:solidFill>
              <a:srgbClr val="E89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65836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04A"/>
                </a:solidFill>
              </a:rPr>
              <a:t>个体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841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</a:rPr>
              <a:t>声音永远消失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12070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至亲离世，声音、故事随之永久消亡，无法找回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4480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34840" y="1828800"/>
            <a:ext cx="109728" cy="1051560"/>
          </a:xfrm>
          <a:prstGeom prst="rect">
            <a:avLst/>
          </a:prstGeom>
          <a:solidFill>
            <a:srgbClr val="E8904A"/>
          </a:solidFill>
          <a:ln w="12700">
            <a:solidFill>
              <a:srgbClr val="E89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83337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04A"/>
                </a:solidFill>
              </a:rPr>
              <a:t>家族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2011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</a:rPr>
              <a:t>三代记忆断层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1772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后代不知根在哪里，家族历史在两代人间断绝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34840" y="2999232"/>
            <a:ext cx="44805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4840" y="2999232"/>
            <a:ext cx="109728" cy="1051560"/>
          </a:xfrm>
          <a:prstGeom prst="rect">
            <a:avLst/>
          </a:prstGeom>
          <a:solidFill>
            <a:srgbClr val="E8904A"/>
          </a:solidFill>
          <a:ln w="12700">
            <a:solidFill>
              <a:srgbClr val="E89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299923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04A"/>
                </a:solidFill>
              </a:rPr>
              <a:t>社会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3182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</a:rPr>
              <a:t>口述历史灭失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17720" y="35478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</a:rPr>
              <a:t>民间珍贵的历史记忆大规模消亡</a:t>
            </a:r>
            <a:r>
              <a:rPr lang="en-US" sz="1200" dirty="0">
                <a:solidFill>
                  <a:srgbClr val="64748B"/>
                </a:solidFill>
              </a:rPr>
              <a:t>，</a:t>
            </a:r>
            <a:r>
              <a:rPr lang="zh-CN" altLang="en-US" sz="1200" b="1" dirty="0">
                <a:solidFill>
                  <a:srgbClr val="64748B"/>
                </a:solidFill>
              </a:rPr>
              <a:t>非遗</a:t>
            </a:r>
            <a:r>
              <a:rPr lang="en-US" sz="1200" dirty="0" err="1">
                <a:solidFill>
                  <a:srgbClr val="64748B"/>
                </a:solidFill>
              </a:rPr>
              <a:t>文化无法传承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E8904A"/>
          </a:solidFill>
          <a:ln w="12700">
            <a:solidFill>
              <a:srgbClr val="E89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4805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我们想做的不是一个泛娱乐 App——而是用工程与时间赛跑：为更可感的「关系与故事」留出数字锚点。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  竞品分析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5B87A"/>
                </a:solidFill>
              </a:rPr>
              <a:t>Competitive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</a:rPr>
              <a:t>人无我有的差异化优势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182880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070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竞品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03120" y="1207008"/>
            <a:ext cx="123444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120700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照片存储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207008"/>
            <a:ext cx="141732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0700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引导挖掘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07008"/>
            <a:ext cx="123444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07008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声音克隆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9320" y="1207008"/>
            <a:ext cx="141732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20700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故事书生成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1207008"/>
            <a:ext cx="1600200" cy="4389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120700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记忆胶囊传代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1645920"/>
            <a:ext cx="1828800" cy="47548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6459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时光相册 / 美篇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03120" y="1645920"/>
            <a:ext cx="1234440" cy="47548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16459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B7A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37560" y="1645920"/>
            <a:ext cx="1417320" cy="47548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6459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</a:rPr>
              <a:t>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1645920"/>
            <a:ext cx="1234440" cy="47548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6459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</a:rPr>
              <a:t>✗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89320" y="1645920"/>
            <a:ext cx="1417320" cy="47548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64592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</a:rPr>
              <a:t>✗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06640" y="1645920"/>
            <a:ext cx="1600200" cy="47548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1645920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</a:rPr>
              <a:t>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74320" y="2121408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12140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微软数字永生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03120" y="2121408"/>
            <a:ext cx="1234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03120" y="21214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</a:rPr>
              <a:t>✗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337560" y="2121408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212140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</a:rPr>
              <a:t>✗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754880" y="2121408"/>
            <a:ext cx="1234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1214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B7A"/>
                </a:solidFill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89320" y="2121408"/>
            <a:ext cx="1417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2121408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</a:rPr>
              <a:t>✗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06640" y="2121408"/>
            <a:ext cx="1600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06640" y="212140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</a:rPr>
              <a:t>✗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74320" y="2596896"/>
            <a:ext cx="1828800" cy="47548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25968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44"/>
                </a:solidFill>
              </a:rPr>
              <a:t>苹果回忆功能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103120" y="2596896"/>
            <a:ext cx="1234440" cy="47548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4DE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5" name="Text 43"/>
          <p:cNvSpPr/>
          <p:nvPr/>
        </p:nvSpPr>
        <p:spPr>
          <a:xfrm>
            <a:off x="2103120" y="259689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8B7A"/>
                </a:solidFill>
              </a:rPr>
              <a:t>✓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337560" y="2596896"/>
            <a:ext cx="1417320" cy="47548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59689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</a:rPr>
              <a:t>✗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754880" y="2596896"/>
            <a:ext cx="1234440" cy="47548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259689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</a:rPr>
              <a:t>✗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989320" y="2596896"/>
            <a:ext cx="1417320" cy="47548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9320" y="259689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</a:rPr>
              <a:t>✗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06640" y="2596896"/>
            <a:ext cx="1600200" cy="475488"/>
          </a:xfrm>
          <a:prstGeom prst="rect">
            <a:avLst/>
          </a:prstGeom>
          <a:solidFill>
            <a:srgbClr val="F8F8F8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2596896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BBBBB"/>
                </a:solidFill>
              </a:rPr>
              <a:t>✗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74320" y="3072384"/>
            <a:ext cx="1828800" cy="548640"/>
          </a:xfrm>
          <a:prstGeom prst="rect">
            <a:avLst/>
          </a:prstGeom>
          <a:solidFill>
            <a:srgbClr val="E8904A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0723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MTC (我们)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103120" y="3072384"/>
            <a:ext cx="123444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03120" y="3072384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3337560" y="3072384"/>
            <a:ext cx="141732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37560" y="307238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4754880" y="3072384"/>
            <a:ext cx="123444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3072384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5989320" y="3072384"/>
            <a:ext cx="141732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89320" y="307238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7406640" y="3072384"/>
            <a:ext cx="1600200" cy="5486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06640" y="3072384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274320" y="3794760"/>
            <a:ext cx="8595360" cy="594360"/>
          </a:xfrm>
          <a:prstGeom prst="rect">
            <a:avLst/>
          </a:prstGeom>
          <a:solidFill>
            <a:srgbClr val="FFF3E8"/>
          </a:solidFill>
          <a:ln w="12700">
            <a:solidFill>
              <a:srgbClr val="F5B87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</a:rPr>
              <a:t>全球目前没有竞品同时具备：AI 主动引导挖掘 + 声音克隆 + 定时胶囊传代 三项能力的完整闭环产品。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8904A"/>
          </a:solidFill>
          <a:ln w="12700">
            <a:solidFill>
              <a:srgbClr val="E89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</a:rPr>
              <a:t>03  技术框架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A2744"/>
                </a:solidFill>
              </a:rPr>
              <a:t>Tech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188720" cy="7498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输入层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0" y="73152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34AB7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73152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文字录入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73152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34AB7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73152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 xml:space="preserve">照片 · </a:t>
            </a:r>
            <a:r>
              <a:rPr lang="en-US" sz="1200" dirty="0" err="1">
                <a:solidFill>
                  <a:srgbClr val="FFFFFF"/>
                </a:solidFill>
              </a:rPr>
              <a:t>视频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73152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34AB7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73152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音频采集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0" y="73152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534AB7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731520"/>
            <a:ext cx="1664208" cy="603504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/>
            <a:r>
              <a:rPr lang="zh-CN" sz="1100" dirty="0">
                <a:solidFill>
                  <a:srgbClr val="FFFFFF"/>
                </a:solidFill>
              </a:rPr>
              <a:t>多端录入</a:t>
            </a:r>
          </a:p>
          <a:p>
            <a:pPr algn="ctr"/>
            <a:r>
              <a:rPr lang="zh-CN" sz="1100" dirty="0">
                <a:solidFill>
                  <a:srgbClr val="FFFFFF"/>
                </a:solidFill>
              </a:rPr>
              <a:t>聊天记录 SSE 导入</a:t>
            </a:r>
          </a:p>
        </p:txBody>
      </p:sp>
      <p:sp>
        <p:nvSpPr>
          <p:cNvPr id="15" name="Shape 13"/>
          <p:cNvSpPr/>
          <p:nvPr/>
        </p:nvSpPr>
        <p:spPr>
          <a:xfrm>
            <a:off x="4206240" y="1426464"/>
            <a:ext cx="731520" cy="219456"/>
          </a:xfrm>
          <a:prstGeom prst="rect">
            <a:avLst/>
          </a:prstGeom>
          <a:solidFill>
            <a:srgbClr val="E8904A">
              <a:alpha val="70000"/>
            </a:srgbClr>
          </a:solidFill>
          <a:ln w="12700">
            <a:solidFill>
              <a:srgbClr val="E8904A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14264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904A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664208"/>
            <a:ext cx="1188720" cy="749808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66420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核心层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645920" y="173736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8B7A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173736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</a:rPr>
              <a:t>多厂商</a:t>
            </a:r>
            <a:r>
              <a:rPr lang="en-US" sz="1200" dirty="0">
                <a:solidFill>
                  <a:srgbClr val="FFFFFF"/>
                </a:solidFill>
              </a:rPr>
              <a:t xml:space="preserve"> LLM · Mnemo · Engram · Celery </a:t>
            </a:r>
            <a:r>
              <a:rPr lang="en-US" sz="1200" dirty="0" err="1">
                <a:solidFill>
                  <a:srgbClr val="FFFFFF"/>
                </a:solidFill>
              </a:rPr>
              <a:t>巩固管线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73736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8B7A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73736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故事书 / 叙事生成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03520" y="173736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8B7A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173736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 xml:space="preserve">语义检索 · </a:t>
            </a:r>
            <a:r>
              <a:rPr lang="en-US" sz="1200" dirty="0" err="1">
                <a:solidFill>
                  <a:srgbClr val="FFFFFF"/>
                </a:solidFill>
              </a:rPr>
              <a:t>有意识召回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173736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2E8B7A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173736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 xml:space="preserve">声音 · TTS / </a:t>
            </a:r>
            <a:r>
              <a:rPr lang="en-US" sz="1200" dirty="0" err="1">
                <a:solidFill>
                  <a:srgbClr val="FFFFFF"/>
                </a:solidFill>
              </a:rPr>
              <a:t>克隆路径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06240" y="2432304"/>
            <a:ext cx="731520" cy="219456"/>
          </a:xfrm>
          <a:prstGeom prst="rect">
            <a:avLst/>
          </a:prstGeom>
          <a:solidFill>
            <a:srgbClr val="E8904A">
              <a:alpha val="70000"/>
            </a:srgbClr>
          </a:solidFill>
          <a:ln w="12700">
            <a:solidFill>
              <a:srgbClr val="E8904A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24323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904A"/>
                </a:solidFill>
              </a:rPr>
              <a:t>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670048"/>
            <a:ext cx="1188720" cy="7498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67004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存储层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645920" y="274320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5042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74320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PostgreSQL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474720" y="274320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5042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274320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Qdrant 向量库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03520" y="274320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5042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274320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MinIO 媒体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132320" y="274320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B85042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0" y="274320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Redis + Celery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06240" y="3438144"/>
            <a:ext cx="731520" cy="219456"/>
          </a:xfrm>
          <a:prstGeom prst="rect">
            <a:avLst/>
          </a:prstGeom>
          <a:solidFill>
            <a:srgbClr val="E8904A">
              <a:alpha val="70000"/>
            </a:srgbClr>
          </a:solidFill>
          <a:ln w="12700">
            <a:solidFill>
              <a:srgbClr val="E8904A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343814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904A"/>
                </a:solidFill>
              </a:rPr>
              <a:t>▼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3675888"/>
            <a:ext cx="1188720" cy="749808"/>
          </a:xfrm>
          <a:prstGeom prst="rect">
            <a:avLst/>
          </a:prstGeom>
          <a:solidFill>
            <a:srgbClr val="6D4C9E"/>
          </a:solidFill>
          <a:ln w="12700">
            <a:solidFill>
              <a:srgbClr val="6D4C9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367588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输出层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645920" y="374904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D4C9E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45920" y="374904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FFFFFF"/>
                </a:solidFill>
              </a:rPr>
              <a:t>关系档案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474720" y="374904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D4C9E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3749040"/>
            <a:ext cx="1664208" cy="603504"/>
          </a:xfrm>
          <a:prstGeom prst="rect">
            <a:avLst/>
          </a:prstGeom>
          <a:noFill/>
          <a:ln/>
        </p:spPr>
        <p:txBody>
          <a:bodyPr anchor="ctr"/>
          <a:lstStyle/>
          <a:p>
            <a:pPr algn="ctr"/>
            <a:r>
              <a:rPr lang="zh-CN" sz="1100" dirty="0">
                <a:solidFill>
                  <a:srgbClr val="FFFFFF"/>
                </a:solidFill>
              </a:rPr>
              <a:t>记忆时间线</a:t>
            </a:r>
          </a:p>
          <a:p>
            <a:pPr algn="ctr"/>
            <a:r>
              <a:rPr lang="zh-CN" sz="1100" dirty="0">
                <a:solidFill>
                  <a:srgbClr val="FFFFFF"/>
                </a:solidFill>
              </a:rPr>
              <a:t>Engram 关系网</a:t>
            </a:r>
          </a:p>
        </p:txBody>
      </p:sp>
      <p:sp>
        <p:nvSpPr>
          <p:cNvPr id="47" name="Shape 45"/>
          <p:cNvSpPr/>
          <p:nvPr/>
        </p:nvSpPr>
        <p:spPr>
          <a:xfrm>
            <a:off x="5303520" y="374904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D4C9E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03520" y="374904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AI 对话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132320" y="3749040"/>
            <a:ext cx="1664208" cy="60350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6D4C9E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0" y="3749040"/>
            <a:ext cx="1664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记忆胶囊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74320" y="4663440"/>
            <a:ext cx="201168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5B87A">
                <a:alpha val="8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87A"/>
                </a:solidFill>
              </a:rPr>
              <a:t xml:space="preserve">React 18 · TypeScript · Vite 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450592" y="4663440"/>
            <a:ext cx="201168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5B87A">
                <a:alpha val="8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50592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87A"/>
                </a:solidFill>
              </a:rPr>
              <a:t>FastAPI · Python 3.11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26864" y="4663440"/>
            <a:ext cx="201168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5B87A">
                <a:alpha val="8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26864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87A"/>
                </a:solidFill>
              </a:rPr>
              <a:t>Docker · Docker Compose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03136" y="4663440"/>
            <a:ext cx="201168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5B87A">
                <a:alpha val="8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03136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B87A"/>
                </a:solidFill>
              </a:rPr>
              <a:t>Git 分支管理 · CI/CD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3  技术框架  —  Git 项目管理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8904A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274320" y="0"/>
            <a:ext cx="6000000" cy="5029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400" b="1" dirty="0">
                <a:solidFill>
                  <a:srgbClr val="1A2744"/>
                </a:solidFill>
                <a:latin typeface="Arial"/>
              </a:rPr>
              <a:t>03  技术框架  —  Git 项目管理</a:t>
            </a:r>
          </a:p>
        </p:txBody>
      </p:sp>
      <p:sp>
        <p:nvSpPr>
          <p:cNvPr id="4" name="Subtitle"/>
          <p:cNvSpPr/>
          <p:nvPr/>
        </p:nvSpPr>
        <p:spPr>
          <a:xfrm>
            <a:off x="6000000" y="0"/>
            <a:ext cx="3144000" cy="5029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100" dirty="0">
                <a:solidFill>
                  <a:srgbClr val="1A2744"/>
                </a:solidFill>
                <a:latin typeface="Calibri"/>
              </a:rPr>
              <a:t>Git Branch Management</a:t>
            </a:r>
          </a:p>
        </p:txBody>
      </p:sp>
      <p:sp>
        <p:nvSpPr>
          <p:cNvPr id="5" name="Tag"/>
          <p:cNvSpPr/>
          <p:nvPr/>
        </p:nvSpPr>
        <p:spPr>
          <a:xfrm>
            <a:off x="274320" y="540000"/>
            <a:ext cx="2200000" cy="220000"/>
          </a:xfrm>
          <a:prstGeom prst="rect">
            <a:avLst/>
          </a:prstGeom>
          <a:solidFill>
            <a:srgbClr val="2E8B7A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</a:rPr>
              <a:t>AI协同 · Git分支管理实证</a:t>
            </a:r>
          </a:p>
        </p:txBody>
      </p:sp>
      <p:pic>
        <p:nvPicPr>
          <p:cNvPr id="6" name="Main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80000"/>
            <a:ext cx="2592000" cy="4000000"/>
          </a:xfrm>
          <a:prstGeom prst="rect">
            <a:avLst/>
          </a:prstGeom>
          <a:ln w="19050">
            <a:solidFill>
              <a:srgbClr val="E8904A"/>
            </a:solidFill>
          </a:ln>
        </p:spPr>
      </p:pic>
      <p:sp>
        <p:nvSpPr>
          <p:cNvPr id="7" name="Desc"/>
          <p:cNvSpPr/>
          <p:nvPr/>
        </p:nvSpPr>
        <p:spPr>
          <a:xfrm>
            <a:off x="3200000" y="780000"/>
            <a:ext cx="5700000" cy="41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r>
              <a:rPr lang="zh-CN" sz="2000" b="1" dirty="0">
                <a:solidFill>
                  <a:srgbClr val="E8904A"/>
                </a:solidFill>
              </a:rPr>
              <a:t>多分支并行开发</a:t>
            </a:r>
          </a:p>
          <a:p>
            <a:endParaRPr lang="zh-CN" sz="1400" dirty="0"/>
          </a:p>
          <a:p>
            <a:r>
              <a:rPr lang="zh-CN" sz="1400" dirty="0">
                <a:solidFill>
                  <a:srgbClr val="FFFFFF"/>
                </a:solidFill>
              </a:rPr>
              <a:t>✔  main  — 稳定版本主分支</a:t>
            </a:r>
            <a:endParaRPr lang="en-US" altLang="zh-CN" sz="1400" dirty="0">
              <a:solidFill>
                <a:srgbClr val="FFFFFF"/>
              </a:solidFill>
            </a:endParaRPr>
          </a:p>
          <a:p>
            <a:r>
              <a:rPr lang="zh-CN" altLang="zh-CN" sz="1400" dirty="0">
                <a:solidFill>
                  <a:srgbClr val="FFFFFF"/>
                </a:solidFill>
              </a:rPr>
              <a:t>✔  debug /</a:t>
            </a:r>
            <a:r>
              <a:rPr lang="en-US" altLang="zh-CN" sz="1400" dirty="0">
                <a:solidFill>
                  <a:srgbClr val="FFFFFF"/>
                </a:solidFill>
              </a:rPr>
              <a:t>agent</a:t>
            </a:r>
            <a:r>
              <a:rPr lang="zh-CN" altLang="zh-CN" sz="1400" dirty="0">
                <a:solidFill>
                  <a:srgbClr val="FFFFFF"/>
                </a:solidFill>
              </a:rPr>
              <a:t>— 专项调试分支</a:t>
            </a:r>
          </a:p>
          <a:p>
            <a:r>
              <a:rPr lang="zh-CN" altLang="zh-CN" sz="1400" dirty="0">
                <a:solidFill>
                  <a:srgbClr val="FFFFFF"/>
                </a:solidFill>
              </a:rPr>
              <a:t xml:space="preserve">✔  krio /agent  —  </a:t>
            </a:r>
            <a:r>
              <a:rPr lang="en-US" altLang="zh-CN" sz="1400" dirty="0">
                <a:solidFill>
                  <a:srgbClr val="FFFFFF"/>
                </a:solidFill>
              </a:rPr>
              <a:t>K</a:t>
            </a:r>
            <a:r>
              <a:rPr lang="zh-CN" altLang="zh-CN" sz="1400" dirty="0">
                <a:solidFill>
                  <a:srgbClr val="FFFFFF"/>
                </a:solidFill>
              </a:rPr>
              <a:t>rio  Agent 开发分支</a:t>
            </a:r>
          </a:p>
          <a:p>
            <a:r>
              <a:rPr lang="zh-CN" altLang="zh-CN" sz="1400" dirty="0">
                <a:solidFill>
                  <a:srgbClr val="FFFFFF"/>
                </a:solidFill>
              </a:rPr>
              <a:t>✔  cursor/agent  — Cursor Agent 开发分支</a:t>
            </a:r>
            <a:endParaRPr lang="zh-CN" sz="1400" dirty="0">
              <a:solidFill>
                <a:srgbClr val="FFFFFF"/>
              </a:solidFill>
            </a:endParaRPr>
          </a:p>
          <a:p>
            <a:r>
              <a:rPr lang="zh-CN" sz="1400" dirty="0">
                <a:solidFill>
                  <a:srgbClr val="FFFFFF"/>
                </a:solidFill>
              </a:rPr>
              <a:t>✔  Codex / Gemini / Opus / Sonnet</a:t>
            </a:r>
            <a:r>
              <a:rPr lang="en-US" altLang="zh-CN" sz="1400" dirty="0">
                <a:solidFill>
                  <a:srgbClr val="FFFFFF"/>
                </a:solidFill>
              </a:rPr>
              <a:t>/</a:t>
            </a:r>
            <a:r>
              <a:rPr lang="zh-CN" altLang="zh-CN" sz="1400" dirty="0">
                <a:solidFill>
                  <a:srgbClr val="FFFFFF"/>
                </a:solidFill>
              </a:rPr>
              <a:t xml:space="preserve"> Composer</a:t>
            </a:r>
            <a:r>
              <a:rPr lang="zh-CN" sz="1400" dirty="0">
                <a:solidFill>
                  <a:srgbClr val="FFFFFF"/>
                </a:solidFill>
              </a:rPr>
              <a:t xml:space="preserve">  — AI协同分支</a:t>
            </a:r>
          </a:p>
          <a:p>
            <a:endParaRPr lang="zh-CN" sz="1400" dirty="0"/>
          </a:p>
          <a:p>
            <a:r>
              <a:rPr lang="zh-CN" sz="1200" b="1" dirty="0">
                <a:solidFill>
                  <a:srgbClr val="2E8B7A"/>
                </a:solidFill>
              </a:rPr>
              <a:t>➜  每个AI模型独立分支开发，main保持可部署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3  技术框架  —  AI 协同规则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8904A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274320" y="0"/>
            <a:ext cx="6000000" cy="5029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400" b="1" dirty="0">
                <a:solidFill>
                  <a:srgbClr val="1A2744"/>
                </a:solidFill>
                <a:latin typeface="Arial"/>
              </a:rPr>
              <a:t>03  技术框架  —  AI 协同规则</a:t>
            </a:r>
          </a:p>
        </p:txBody>
      </p:sp>
      <p:sp>
        <p:nvSpPr>
          <p:cNvPr id="4" name="Subtitle"/>
          <p:cNvSpPr/>
          <p:nvPr/>
        </p:nvSpPr>
        <p:spPr>
          <a:xfrm>
            <a:off x="6000000" y="0"/>
            <a:ext cx="3144000" cy="5029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100" dirty="0">
                <a:solidFill>
                  <a:srgbClr val="1A2744"/>
                </a:solidFill>
                <a:latin typeface="Calibri"/>
              </a:rPr>
              <a:t>AI Collaboration Rules</a:t>
            </a:r>
          </a:p>
        </p:txBody>
      </p:sp>
      <p:sp>
        <p:nvSpPr>
          <p:cNvPr id="5" name="Tag"/>
          <p:cNvSpPr/>
          <p:nvPr/>
        </p:nvSpPr>
        <p:spPr>
          <a:xfrm>
            <a:off x="274320" y="540000"/>
            <a:ext cx="2200000" cy="220000"/>
          </a:xfrm>
          <a:prstGeom prst="rect">
            <a:avLst/>
          </a:prstGeom>
          <a:solidFill>
            <a:srgbClr val="2E8B7A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</a:rPr>
              <a:t>AI协同 · Cursor Rules and Skills</a:t>
            </a:r>
          </a:p>
        </p:txBody>
      </p:sp>
      <p:pic>
        <p:nvPicPr>
          <p:cNvPr id="6" name="Main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80000"/>
            <a:ext cx="1516000" cy="4000000"/>
          </a:xfrm>
          <a:prstGeom prst="rect">
            <a:avLst/>
          </a:prstGeom>
          <a:ln w="19050">
            <a:solidFill>
              <a:srgbClr val="E8904A"/>
            </a:solidFill>
          </a:ln>
        </p:spPr>
      </p:pic>
      <p:sp>
        <p:nvSpPr>
          <p:cNvPr id="7" name="Desc9"/>
          <p:cNvSpPr/>
          <p:nvPr/>
        </p:nvSpPr>
        <p:spPr>
          <a:xfrm>
            <a:off x="2000000" y="780000"/>
            <a:ext cx="6900000" cy="4100000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r>
              <a:rPr lang="zh-CN" sz="2000" b="1" dirty="0">
                <a:solidFill>
                  <a:srgbClr val="E8904A"/>
                </a:solidFill>
              </a:rPr>
              <a:t>Cursor AI协同规则体系</a:t>
            </a:r>
          </a:p>
          <a:p>
            <a:endParaRPr lang="zh-CN" sz="1400" dirty="0"/>
          </a:p>
          <a:p>
            <a:r>
              <a:rPr lang="zh-CN" sz="1300" b="1" dirty="0">
                <a:solidFill>
                  <a:srgbClr val="2E8B7A"/>
                </a:solidFill>
              </a:rPr>
              <a:t>rules/  — AI行为规则集</a:t>
            </a:r>
          </a:p>
          <a:p>
            <a:r>
              <a:rPr lang="zh-CN" sz="1200" dirty="0">
                <a:solidFill>
                  <a:srgbClr val="AAAACC"/>
                </a:solidFill>
              </a:rPr>
              <a:t xml:space="preserve">  chinese-language · context7 · cursor-assistant-core</a:t>
            </a:r>
          </a:p>
          <a:p>
            <a:r>
              <a:rPr lang="zh-CN" sz="1200" dirty="0">
                <a:solidFill>
                  <a:srgbClr val="AAAACC"/>
                </a:solidFill>
              </a:rPr>
              <a:t xml:space="preserve">  mtc-refactor-roadmap · skill-dispatch</a:t>
            </a:r>
          </a:p>
          <a:p>
            <a:endParaRPr lang="zh-CN" sz="1300" dirty="0"/>
          </a:p>
          <a:p>
            <a:r>
              <a:rPr lang="zh-CN" sz="1300" b="1" dirty="0">
                <a:solidFill>
                  <a:srgbClr val="2E8B7A"/>
                </a:solidFill>
              </a:rPr>
              <a:t>skills/  — AI技能模块库（22个）</a:t>
            </a:r>
          </a:p>
          <a:p>
            <a:r>
              <a:rPr lang="zh-CN" sz="1200" dirty="0">
                <a:solidFill>
                  <a:srgbClr val="AAAACC"/>
                </a:solidFill>
              </a:rPr>
              <a:t xml:space="preserve">  chinese-code-review · dispatching-parallel-agents</a:t>
            </a:r>
          </a:p>
          <a:p>
            <a:r>
              <a:rPr lang="zh-CN" sz="1200" dirty="0">
                <a:solidFill>
                  <a:srgbClr val="AAAACC"/>
                </a:solidFill>
              </a:rPr>
              <a:t xml:space="preserve">  subagent-driven-development · ui-ux-pro-max</a:t>
            </a:r>
          </a:p>
          <a:p>
            <a:r>
              <a:rPr lang="zh-CN" sz="1200" dirty="0">
                <a:solidFill>
                  <a:srgbClr val="AAAACC"/>
                </a:solidFill>
              </a:rPr>
              <a:t xml:space="preserve">  systematic-debugging · workflow-runner ...</a:t>
            </a:r>
          </a:p>
          <a:p>
            <a:endParaRPr lang="zh-CN" sz="1300" dirty="0"/>
          </a:p>
          <a:p>
            <a:r>
              <a:rPr lang="zh-CN" sz="1200" b="1" dirty="0">
                <a:solidFill>
                  <a:srgbClr val="E8904A"/>
                </a:solidFill>
              </a:rPr>
              <a:t>➜  AI不是工具，是有规则约束的协作团队成员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03  技术框架  —  AI 协同用量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8904A"/>
          </a:solidFill>
          <a:ln>
            <a:noFill/>
          </a:ln>
        </p:spPr>
      </p:sp>
      <p:sp>
        <p:nvSpPr>
          <p:cNvPr id="3" name="Title"/>
          <p:cNvSpPr/>
          <p:nvPr/>
        </p:nvSpPr>
        <p:spPr>
          <a:xfrm>
            <a:off x="274320" y="0"/>
            <a:ext cx="6000000" cy="5029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sz="1400" b="1" dirty="0">
                <a:solidFill>
                  <a:srgbClr val="1A2744"/>
                </a:solidFill>
                <a:latin typeface="Arial"/>
              </a:rPr>
              <a:t>03  技术框架  —  AI 协同用量</a:t>
            </a:r>
          </a:p>
        </p:txBody>
      </p:sp>
      <p:sp>
        <p:nvSpPr>
          <p:cNvPr id="4" name="Subtitle"/>
          <p:cNvSpPr/>
          <p:nvPr/>
        </p:nvSpPr>
        <p:spPr>
          <a:xfrm>
            <a:off x="6000000" y="0"/>
            <a:ext cx="3144000" cy="5029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r>
              <a:rPr lang="en-US" sz="1100" dirty="0">
                <a:solidFill>
                  <a:srgbClr val="1A2744"/>
                </a:solidFill>
                <a:latin typeface="Calibri"/>
              </a:rPr>
              <a:t>AI Token Usage</a:t>
            </a:r>
          </a:p>
        </p:txBody>
      </p:sp>
      <p:sp>
        <p:nvSpPr>
          <p:cNvPr id="5" name="Tag"/>
          <p:cNvSpPr/>
          <p:nvPr/>
        </p:nvSpPr>
        <p:spPr>
          <a:xfrm>
            <a:off x="274320" y="540000"/>
            <a:ext cx="2200000" cy="220000"/>
          </a:xfrm>
          <a:prstGeom prst="rect">
            <a:avLst/>
          </a:prstGeom>
          <a:solidFill>
            <a:srgbClr val="2E8B7A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</a:rPr>
              <a:t>AI协同 · 实际Token消耗证明</a:t>
            </a:r>
          </a:p>
        </p:txBody>
      </p:sp>
      <p:pic>
        <p:nvPicPr>
          <p:cNvPr id="6" name="MainImage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4320" y="843362"/>
            <a:ext cx="8595360" cy="3973276"/>
          </a:xfrm>
          <a:prstGeom prst="rect">
            <a:avLst/>
          </a:prstGeom>
          <a:ln w="19050">
            <a:solidFill>
              <a:srgbClr val="E8904A"/>
            </a:solidFill>
          </a:ln>
        </p:spPr>
      </p:pic>
      <p:sp>
        <p:nvSpPr>
          <p:cNvPr id="7" name="Desc10"/>
          <p:cNvSpPr/>
          <p:nvPr/>
        </p:nvSpPr>
        <p:spPr>
          <a:xfrm>
            <a:off x="274320" y="4930000"/>
            <a:ext cx="8595360" cy="180000"/>
          </a:xfrm>
          <a:prstGeom prst="rect">
            <a:avLst/>
          </a:prstGeom>
          <a:solidFill>
            <a:srgbClr val="2E8B7A"/>
          </a:solidFill>
          <a:ln>
            <a:noFill/>
          </a:ln>
        </p:spPr>
        <p:txBody>
          <a:bodyPr anchor="ctr"/>
          <a:lstStyle/>
          <a:p>
            <a:pPr algn="ctr"/>
            <a:r>
              <a:rPr lang="zh-CN" sz="900" b="1">
                <a:solidFill>
                  <a:srgbClr val="FFFFFF"/>
                </a:solidFill>
              </a:rPr>
              <a:t>总</a:t>
            </a:r>
            <a:r>
              <a:rPr lang="zh-CN" sz="900" b="1" dirty="0">
                <a:solidFill>
                  <a:srgbClr val="FFFFFF"/>
                </a:solidFill>
              </a:rPr>
              <a:t xml:space="preserve">用量 </a:t>
            </a:r>
            <a:r>
              <a:rPr lang="en-US" altLang="zh-CN" sz="900" b="1" dirty="0">
                <a:solidFill>
                  <a:srgbClr val="FFFFFF"/>
                </a:solidFill>
              </a:rPr>
              <a:t>6.4</a:t>
            </a:r>
            <a:r>
              <a:rPr lang="zh-CN" sz="900" b="1" dirty="0">
                <a:solidFill>
                  <a:srgbClr val="FFFFFF"/>
                </a:solidFill>
              </a:rPr>
              <a:t>亿 Tokens  ·  主力模型 claude-opus-4-7-thinking-xhigh（63.6%）  ·  多模型协同验证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  已有成果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5B87A"/>
                </a:solidFill>
              </a:rPr>
              <a:t>What We've Built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58368"/>
            <a:ext cx="91440" cy="96012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7315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8B7A"/>
                </a:solidFill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7315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关系档案 &amp; 成员管理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133856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家族 / 恋人 / 挚友 / 伟人 / 民族等六种档案；成员状态语义字段与头像、CRUD 全链路在线。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658368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658368"/>
            <a:ext cx="91440" cy="96012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7315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8B7A"/>
                </a:solidFill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76088" y="7315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记忆管理 &amp; 媒体存档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1133856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情感 · 时间与地点元数据；聊天导出可选用 SSE；两阶段预签名写入 MinIO 私有桶。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7373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737360"/>
            <a:ext cx="91440" cy="96012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8105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8B7A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1248" y="18105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AI 角色扮演对话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2212848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记忆上下文注入；自备 Key · 连通性校验；服务端整段回复配合前端打字机，多轮已跑通。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73736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737360"/>
            <a:ext cx="91440" cy="96012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8105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8B7A"/>
                </a:solidFill>
              </a:rPr>
              <a:t>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76088" y="18105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故事书生成 &amp; PDF导出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2212848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四种写作风格，基于记忆条目AI生成生命故事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81635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816352"/>
            <a:ext cx="91440" cy="96012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8895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8B7A"/>
                </a:solidFill>
              </a:rPr>
              <a:t>✓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1248" y="28895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交互时间线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" y="3291840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情感/成员/时间三维筛选，可视化记忆脉络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2816352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816352"/>
            <a:ext cx="91440" cy="96012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28895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8B7A"/>
                </a:solidFill>
              </a:rPr>
              <a:t>✓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276088" y="288950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记忆胶囊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73752" y="3291840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定时加密解封，锁定期内内容保护，到期自动开启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895344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895344"/>
            <a:ext cx="91440" cy="960120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96849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8B7A"/>
                </a:solidFill>
              </a:rPr>
              <a:t>✓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41248" y="39684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语义检索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38912" y="4370832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Qdrant 语义检索与自然语言召回；成员「记忆关系网」画布（Engram API + 力导向图）。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3895344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895344"/>
            <a:ext cx="91440" cy="960120"/>
          </a:xfrm>
          <a:prstGeom prst="rect">
            <a:avLst/>
          </a:prstGeom>
          <a:solidFill>
            <a:srgbClr val="E8904A"/>
          </a:solidFill>
          <a:ln w="12700">
            <a:solidFill>
              <a:srgbClr val="E890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396849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904A"/>
                </a:solidFill>
              </a:rPr>
              <a:t>🔄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276088" y="39684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声音克隆（进行中）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73752" y="4370832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CosyVoice · TTS 基座已接通；高质量声纹克隆为规划能力（非默认承诺）。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  预计效果 &amp; 商业模式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</a:rPr>
              <a:t>量化指标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3931920" cy="713232"/>
          </a:xfrm>
          <a:prstGeom prst="rect">
            <a:avLst/>
          </a:prstGeom>
          <a:solidFill>
            <a:srgbClr val="F0F9F7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B7A"/>
                </a:solidFill>
              </a:rPr>
              <a:t>30-50条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609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单次使用采集记忆片段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3931920" cy="713232"/>
          </a:xfrm>
          <a:prstGeom prst="rect">
            <a:avLst/>
          </a:prstGeom>
          <a:solidFill>
            <a:srgbClr val="FFF3E8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751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904A"/>
                </a:solidFill>
              </a:rPr>
              <a:t>&lt;30秒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2414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AI故事生成时间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724912"/>
            <a:ext cx="3931920" cy="713232"/>
          </a:xfrm>
          <a:prstGeom prst="rect">
            <a:avLst/>
          </a:prstGeom>
          <a:solidFill>
            <a:srgbClr val="F0F9F7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797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8B7A"/>
                </a:solidFill>
              </a:rPr>
              <a:t>5秒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1148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声音克隆所需音频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529584"/>
            <a:ext cx="3931920" cy="713232"/>
          </a:xfrm>
          <a:prstGeom prst="rect">
            <a:avLst/>
          </a:prstGeom>
          <a:solidFill>
            <a:srgbClr val="FFF3E8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5844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904A"/>
                </a:solidFill>
              </a:rPr>
              <a:t>2.8亿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1148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目标潜在用户规模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6400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</a:rPr>
              <a:t>商业模式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80560" y="1115568"/>
            <a:ext cx="43891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115568"/>
            <a:ext cx="1005840" cy="896112"/>
          </a:xfrm>
          <a:prstGeom prst="rect">
            <a:avLst/>
          </a:prstGeom>
          <a:solidFill>
            <a:srgbClr val="2E8B7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010412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免费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54980" y="1290447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</a:rPr>
              <a:t>基础记忆存储 · 文字录入 · 时间线浏览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80560" y="2256282"/>
            <a:ext cx="43891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80560" y="2249424"/>
            <a:ext cx="1005840" cy="896112"/>
          </a:xfrm>
          <a:prstGeom prst="rect">
            <a:avLst/>
          </a:prstGeom>
          <a:solidFill>
            <a:srgbClr val="E8904A"/>
          </a:solidFill>
          <a:ln w="12700">
            <a:solidFill>
              <a:srgbClr val="E890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2165985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个人版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242087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</a:rPr>
              <a:t>AI 故事书生成 · 语义检索 · 记忆胶囊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3410712"/>
            <a:ext cx="43891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3401568"/>
            <a:ext cx="1005840" cy="89611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8" name="Text 26"/>
          <p:cNvSpPr/>
          <p:nvPr/>
        </p:nvSpPr>
        <p:spPr>
          <a:xfrm>
            <a:off x="4480560" y="3328416"/>
            <a:ext cx="10058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家族版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77840" y="35661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744"/>
                </a:solidFill>
              </a:rPr>
              <a:t>声音克隆 · 多成员协作 · PDF导出 · 家族礼盒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805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B87A"/>
                </a:solidFill>
              </a:rPr>
              <a:t xml:space="preserve">目标渗透率 1% = 300万家庭用户  ·  </a:t>
            </a:r>
            <a:r>
              <a:rPr lang="en-US" sz="1300" dirty="0" err="1">
                <a:solidFill>
                  <a:srgbClr val="F5B87A"/>
                </a:solidFill>
              </a:rPr>
              <a:t>家族礼盒客单价预计</a:t>
            </a:r>
            <a:r>
              <a:rPr lang="en-US" sz="1300">
                <a:solidFill>
                  <a:srgbClr val="F5B87A"/>
                </a:solidFill>
              </a:rPr>
              <a:t xml:space="preserve"> ¥???-???  </a:t>
            </a:r>
            <a:r>
              <a:rPr lang="en-US" sz="1300" dirty="0">
                <a:solidFill>
                  <a:srgbClr val="F5B87A"/>
                </a:solidFill>
              </a:rPr>
              <a:t>·  政策红利：国家文化记忆工程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-182880"/>
            <a:ext cx="5486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0" b="1" dirty="0">
                <a:solidFill>
                  <a:srgbClr val="FFFFFF">
                    <a:alpha val="6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记忆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904A"/>
          </a:solidFill>
          <a:ln w="12700">
            <a:solidFill>
              <a:srgbClr val="E89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90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MnemoTranscode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用 AI 守护每一段值得的关系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36576"/>
          </a:xfrm>
          <a:prstGeom prst="rect">
            <a:avLst/>
          </a:prstGeom>
          <a:solidFill>
            <a:srgbClr val="E8904A">
              <a:alpha val="60000"/>
            </a:srgbClr>
          </a:solidFill>
          <a:ln w="12700">
            <a:solidFill>
              <a:srgbClr val="E8904A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5B87A"/>
                </a:solidFill>
              </a:rPr>
              <a:t>每年有大量关系叙事在失声：至亲至爱、文脉与故土，同样需要被接住。
</a:t>
            </a:r>
            <a:r>
              <a:rPr lang="en-US" sz="1600" dirty="0">
                <a:solidFill>
                  <a:srgbClr val="FFFFFF"/>
                </a:solidFill>
              </a:rPr>
              <a:t>我们做的是「记忆基础设施」，
为每一段值得的关系，留下可追溯的内容与回声。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2560320" cy="566928"/>
          </a:xfrm>
          <a:prstGeom prst="rect">
            <a:avLst/>
          </a:prstGeom>
          <a:solidFill>
            <a:srgbClr val="E8904A"/>
          </a:solidFill>
          <a:ln w="12700">
            <a:solidFill>
              <a:srgbClr val="E890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6576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</a:rPr>
              <a:t>立即投资支持我们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40964" y="3657600"/>
            <a:ext cx="2770632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5B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36576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B87A"/>
                </a:solidFill>
              </a:rPr>
              <a:t>github.com/Fish-under-sea/MnemoTranscode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8904A"/>
                </a:solidFill>
              </a:rPr>
              <a:t>Memory · Emotion · Heritage  —  MTC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669</Words>
  <Application>Microsoft Office PowerPoint</Application>
  <PresentationFormat>全屏显示(16:9)</PresentationFormat>
  <Paragraphs>176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MTC · MnemoTranscode · 2026创造者杯路演</dc:title>
  <dc:subject>PptxGenJS Presentation</dc:subject>
  <dc:creator>Cursor</dc:creator>
  <cp:lastModifiedBy>凯 俞</cp:lastModifiedBy>
  <cp:revision>12</cp:revision>
  <dcterms:created xsi:type="dcterms:W3CDTF">2026-04-27T00:56:38Z</dcterms:created>
  <dcterms:modified xsi:type="dcterms:W3CDTF">2026-05-02T13:21:59Z</dcterms:modified>
</cp:coreProperties>
</file>