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4" r:id="rId10"/>
    <p:sldId id="267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2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932" autoAdjust="0"/>
  </p:normalViewPr>
  <p:slideViewPr>
    <p:cSldViewPr snapToGrid="0">
      <p:cViewPr varScale="1">
        <p:scale>
          <a:sx n="75" d="100"/>
          <a:sy n="75" d="100"/>
        </p:scale>
        <p:origin x="72" y="41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4306811-DF4F-4A02-A067-CA847830E9E4}" type="doc">
      <dgm:prSet loTypeId="urn:microsoft.com/office/officeart/2005/8/layout/vList2" loCatId="list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lang="zh-CN" altLang="en-US"/>
        </a:p>
      </dgm:t>
    </dgm:pt>
    <dgm:pt modelId="{17377F60-9B90-48D7-8305-A9A7893EB546}">
      <dgm:prSet custT="1"/>
      <dgm:spPr/>
      <dgm:t>
        <a:bodyPr/>
        <a:lstStyle/>
        <a:p>
          <a:pPr algn="ctr"/>
          <a:r>
            <a:rPr lang="zh-CN" altLang="en-US" sz="2000" b="1" dirty="0"/>
            <a:t>图片上传</a:t>
          </a:r>
          <a:r>
            <a:rPr lang="en-US" altLang="zh-CN" sz="2000" b="1" dirty="0"/>
            <a:t>+</a:t>
          </a:r>
          <a:r>
            <a:rPr lang="zh-CN" altLang="en-US" sz="2000" b="1" dirty="0"/>
            <a:t>机型选择</a:t>
          </a:r>
          <a:endParaRPr lang="zh-CN" sz="2000" b="1" dirty="0"/>
        </a:p>
      </dgm:t>
    </dgm:pt>
    <dgm:pt modelId="{D0586E6E-022D-49A9-B24C-A64B58515C6F}" type="parTrans" cxnId="{3AAB090F-190D-49CB-AFA1-308D19DAE19D}">
      <dgm:prSet/>
      <dgm:spPr/>
      <dgm:t>
        <a:bodyPr/>
        <a:lstStyle/>
        <a:p>
          <a:endParaRPr lang="zh-CN" altLang="en-US"/>
        </a:p>
      </dgm:t>
    </dgm:pt>
    <dgm:pt modelId="{877E16E6-0A86-4C0D-9A44-12666E1ED2EB}" type="sibTrans" cxnId="{3AAB090F-190D-49CB-AFA1-308D19DAE19D}">
      <dgm:prSet/>
      <dgm:spPr/>
      <dgm:t>
        <a:bodyPr/>
        <a:lstStyle/>
        <a:p>
          <a:endParaRPr lang="zh-CN" altLang="en-US"/>
        </a:p>
      </dgm:t>
    </dgm:pt>
    <dgm:pt modelId="{7CEDC3EF-0283-44E7-BD92-C784728B8243}">
      <dgm:prSet custT="1"/>
      <dgm:spPr/>
      <dgm:t>
        <a:bodyPr/>
        <a:lstStyle/>
        <a:p>
          <a:pPr algn="ctr"/>
          <a:r>
            <a:rPr lang="zh-CN" altLang="en-US" sz="2000" b="1" i="0" dirty="0"/>
            <a:t>用户反馈收集闭环</a:t>
          </a:r>
          <a:endParaRPr lang="zh-CN" altLang="en-US" sz="2000" b="1" dirty="0"/>
        </a:p>
      </dgm:t>
    </dgm:pt>
    <dgm:pt modelId="{69B6BF8D-E1C4-4BE0-965A-5B866F02AA28}" type="parTrans" cxnId="{B60A9F8C-0D9F-475D-9B3A-15F4EDD47B2C}">
      <dgm:prSet/>
      <dgm:spPr/>
      <dgm:t>
        <a:bodyPr/>
        <a:lstStyle/>
        <a:p>
          <a:endParaRPr lang="zh-CN" altLang="en-US"/>
        </a:p>
      </dgm:t>
    </dgm:pt>
    <dgm:pt modelId="{80E2CC3F-A7BC-4F76-9B27-84874969B7A8}" type="sibTrans" cxnId="{B60A9F8C-0D9F-475D-9B3A-15F4EDD47B2C}">
      <dgm:prSet/>
      <dgm:spPr/>
      <dgm:t>
        <a:bodyPr/>
        <a:lstStyle/>
        <a:p>
          <a:endParaRPr lang="zh-CN" altLang="en-US"/>
        </a:p>
      </dgm:t>
    </dgm:pt>
    <dgm:pt modelId="{4D571331-0960-497B-92B1-82B276883E5E}">
      <dgm:prSet custT="1"/>
      <dgm:spPr/>
      <dgm:t>
        <a:bodyPr/>
        <a:lstStyle/>
        <a:p>
          <a:pPr algn="ctr"/>
          <a:r>
            <a:rPr lang="en-US" altLang="zh-CN" sz="2000" b="1" dirty="0"/>
            <a:t>AI</a:t>
          </a:r>
          <a:r>
            <a:rPr lang="zh-CN" altLang="en-US" sz="2000" b="1" dirty="0"/>
            <a:t>视觉缺陷自动分析</a:t>
          </a:r>
          <a:endParaRPr lang="zh-CN" sz="2000" b="1" dirty="0"/>
        </a:p>
      </dgm:t>
    </dgm:pt>
    <dgm:pt modelId="{5B010BA2-FA87-4B43-B025-985576CF3630}" type="parTrans" cxnId="{016A0BF0-2BA0-488F-9E5D-EF92FD5BD5FF}">
      <dgm:prSet/>
      <dgm:spPr/>
      <dgm:t>
        <a:bodyPr/>
        <a:lstStyle/>
        <a:p>
          <a:endParaRPr lang="zh-CN" altLang="en-US"/>
        </a:p>
      </dgm:t>
    </dgm:pt>
    <dgm:pt modelId="{26585E66-8AE9-42AA-98A2-29207727C325}" type="sibTrans" cxnId="{016A0BF0-2BA0-488F-9E5D-EF92FD5BD5FF}">
      <dgm:prSet/>
      <dgm:spPr/>
      <dgm:t>
        <a:bodyPr/>
        <a:lstStyle/>
        <a:p>
          <a:endParaRPr lang="zh-CN" altLang="en-US"/>
        </a:p>
      </dgm:t>
    </dgm:pt>
    <dgm:pt modelId="{DE48A326-2850-45EB-ABEE-B10E3A7320CD}">
      <dgm:prSet custT="1"/>
      <dgm:spPr/>
      <dgm:t>
        <a:bodyPr/>
        <a:lstStyle/>
        <a:p>
          <a:pPr algn="ctr"/>
          <a:r>
            <a:rPr lang="zh-CN" altLang="en-US" sz="2000" b="1" dirty="0"/>
            <a:t>向量知识库智能检索</a:t>
          </a:r>
        </a:p>
      </dgm:t>
    </dgm:pt>
    <dgm:pt modelId="{A8185A0F-DD39-480F-A00F-695D852FA3F0}" type="parTrans" cxnId="{0E619F2A-B12C-4D5A-9F74-25EB6CE512C6}">
      <dgm:prSet/>
      <dgm:spPr/>
      <dgm:t>
        <a:bodyPr/>
        <a:lstStyle/>
        <a:p>
          <a:endParaRPr lang="zh-CN" altLang="en-US"/>
        </a:p>
      </dgm:t>
    </dgm:pt>
    <dgm:pt modelId="{8BA32699-71F7-442E-B280-841D68058352}" type="sibTrans" cxnId="{0E619F2A-B12C-4D5A-9F74-25EB6CE512C6}">
      <dgm:prSet/>
      <dgm:spPr/>
      <dgm:t>
        <a:bodyPr/>
        <a:lstStyle/>
        <a:p>
          <a:endParaRPr lang="zh-CN" altLang="en-US"/>
        </a:p>
      </dgm:t>
    </dgm:pt>
    <dgm:pt modelId="{F7DC7E39-5A4C-46FF-8177-546590FB49E7}">
      <dgm:prSet custT="1"/>
      <dgm:spPr/>
      <dgm:t>
        <a:bodyPr/>
        <a:lstStyle/>
        <a:p>
          <a:pPr algn="ctr"/>
          <a:r>
            <a:rPr lang="zh-CN" altLang="en-US" sz="2000" b="1" dirty="0"/>
            <a:t>结构化诊断报告生成</a:t>
          </a:r>
        </a:p>
      </dgm:t>
    </dgm:pt>
    <dgm:pt modelId="{53932807-CB42-4D5B-B49E-BE9F5CA173F2}" type="parTrans" cxnId="{AD72C390-EC9C-4D7A-9EF2-6317AF1EB0DB}">
      <dgm:prSet/>
      <dgm:spPr/>
      <dgm:t>
        <a:bodyPr/>
        <a:lstStyle/>
        <a:p>
          <a:endParaRPr lang="zh-CN" altLang="en-US"/>
        </a:p>
      </dgm:t>
    </dgm:pt>
    <dgm:pt modelId="{035E34B6-8196-4E80-8C07-124E35332125}" type="sibTrans" cxnId="{AD72C390-EC9C-4D7A-9EF2-6317AF1EB0DB}">
      <dgm:prSet/>
      <dgm:spPr/>
      <dgm:t>
        <a:bodyPr/>
        <a:lstStyle/>
        <a:p>
          <a:endParaRPr lang="zh-CN" altLang="en-US"/>
        </a:p>
      </dgm:t>
    </dgm:pt>
    <dgm:pt modelId="{36BF37F7-B081-48D1-B0D7-90C19E16F929}" type="pres">
      <dgm:prSet presAssocID="{44306811-DF4F-4A02-A067-CA847830E9E4}" presName="linear" presStyleCnt="0">
        <dgm:presLayoutVars>
          <dgm:animLvl val="lvl"/>
          <dgm:resizeHandles val="exact"/>
        </dgm:presLayoutVars>
      </dgm:prSet>
      <dgm:spPr/>
    </dgm:pt>
    <dgm:pt modelId="{2C46A361-B28B-426A-A528-7E879C5769DE}" type="pres">
      <dgm:prSet presAssocID="{17377F60-9B90-48D7-8305-A9A7893EB546}" presName="parentText" presStyleLbl="node1" presStyleIdx="0" presStyleCnt="5" custLinFactNeighborX="-13005" custLinFactNeighborY="-5283">
        <dgm:presLayoutVars>
          <dgm:chMax val="0"/>
          <dgm:bulletEnabled val="1"/>
        </dgm:presLayoutVars>
      </dgm:prSet>
      <dgm:spPr/>
    </dgm:pt>
    <dgm:pt modelId="{9279D3D2-0FBD-451A-B974-A0DC24C3EC0E}" type="pres">
      <dgm:prSet presAssocID="{877E16E6-0A86-4C0D-9A44-12666E1ED2EB}" presName="spacer" presStyleCnt="0"/>
      <dgm:spPr/>
    </dgm:pt>
    <dgm:pt modelId="{1898E415-7A15-462A-8C69-E400A0699DF0}" type="pres">
      <dgm:prSet presAssocID="{4D571331-0960-497B-92B1-82B276883E5E}" presName="parentText" presStyleLbl="node1" presStyleIdx="1" presStyleCnt="5" custLinFactNeighborX="-13005">
        <dgm:presLayoutVars>
          <dgm:chMax val="0"/>
          <dgm:bulletEnabled val="1"/>
        </dgm:presLayoutVars>
      </dgm:prSet>
      <dgm:spPr/>
    </dgm:pt>
    <dgm:pt modelId="{1537952E-05F9-40E5-BA2A-8A89943C76B2}" type="pres">
      <dgm:prSet presAssocID="{26585E66-8AE9-42AA-98A2-29207727C325}" presName="spacer" presStyleCnt="0"/>
      <dgm:spPr/>
    </dgm:pt>
    <dgm:pt modelId="{0A9CDD97-870D-4356-94A6-5C52F2CD0804}" type="pres">
      <dgm:prSet presAssocID="{DE48A326-2850-45EB-ABEE-B10E3A7320CD}" presName="parentText" presStyleLbl="node1" presStyleIdx="2" presStyleCnt="5" custLinFactNeighborX="-13005">
        <dgm:presLayoutVars>
          <dgm:chMax val="0"/>
          <dgm:bulletEnabled val="1"/>
        </dgm:presLayoutVars>
      </dgm:prSet>
      <dgm:spPr/>
    </dgm:pt>
    <dgm:pt modelId="{1C7FBA44-2A58-48A3-ABB4-3D28867F9E35}" type="pres">
      <dgm:prSet presAssocID="{8BA32699-71F7-442E-B280-841D68058352}" presName="spacer" presStyleCnt="0"/>
      <dgm:spPr/>
    </dgm:pt>
    <dgm:pt modelId="{406A6D68-45A8-48C3-8B3A-39F6BA79AD0F}" type="pres">
      <dgm:prSet presAssocID="{F7DC7E39-5A4C-46FF-8177-546590FB49E7}" presName="parentText" presStyleLbl="node1" presStyleIdx="3" presStyleCnt="5" custLinFactNeighborX="-13005">
        <dgm:presLayoutVars>
          <dgm:chMax val="0"/>
          <dgm:bulletEnabled val="1"/>
        </dgm:presLayoutVars>
      </dgm:prSet>
      <dgm:spPr/>
    </dgm:pt>
    <dgm:pt modelId="{454759C6-7CC1-4C6E-A56E-7D21A35DD702}" type="pres">
      <dgm:prSet presAssocID="{035E34B6-8196-4E80-8C07-124E35332125}" presName="spacer" presStyleCnt="0"/>
      <dgm:spPr/>
    </dgm:pt>
    <dgm:pt modelId="{9204F5DE-9AA3-41F5-B902-A2F624BC9F8D}" type="pres">
      <dgm:prSet presAssocID="{7CEDC3EF-0283-44E7-BD92-C784728B8243}" presName="parentText" presStyleLbl="node1" presStyleIdx="4" presStyleCnt="5" custLinFactNeighborX="-8395">
        <dgm:presLayoutVars>
          <dgm:chMax val="0"/>
          <dgm:bulletEnabled val="1"/>
        </dgm:presLayoutVars>
      </dgm:prSet>
      <dgm:spPr/>
    </dgm:pt>
  </dgm:ptLst>
  <dgm:cxnLst>
    <dgm:cxn modelId="{3AAB090F-190D-49CB-AFA1-308D19DAE19D}" srcId="{44306811-DF4F-4A02-A067-CA847830E9E4}" destId="{17377F60-9B90-48D7-8305-A9A7893EB546}" srcOrd="0" destOrd="0" parTransId="{D0586E6E-022D-49A9-B24C-A64B58515C6F}" sibTransId="{877E16E6-0A86-4C0D-9A44-12666E1ED2EB}"/>
    <dgm:cxn modelId="{07A1DB24-571A-48ED-A9DB-A50891CD5B29}" type="presOf" srcId="{F7DC7E39-5A4C-46FF-8177-546590FB49E7}" destId="{406A6D68-45A8-48C3-8B3A-39F6BA79AD0F}" srcOrd="0" destOrd="0" presId="urn:microsoft.com/office/officeart/2005/8/layout/vList2"/>
    <dgm:cxn modelId="{0E619F2A-B12C-4D5A-9F74-25EB6CE512C6}" srcId="{44306811-DF4F-4A02-A067-CA847830E9E4}" destId="{DE48A326-2850-45EB-ABEE-B10E3A7320CD}" srcOrd="2" destOrd="0" parTransId="{A8185A0F-DD39-480F-A00F-695D852FA3F0}" sibTransId="{8BA32699-71F7-442E-B280-841D68058352}"/>
    <dgm:cxn modelId="{63B8CA4C-2295-40C0-A358-4427EDB040CF}" type="presOf" srcId="{44306811-DF4F-4A02-A067-CA847830E9E4}" destId="{36BF37F7-B081-48D1-B0D7-90C19E16F929}" srcOrd="0" destOrd="0" presId="urn:microsoft.com/office/officeart/2005/8/layout/vList2"/>
    <dgm:cxn modelId="{816CE96E-34AA-441B-AC81-35E0BA766EA0}" type="presOf" srcId="{4D571331-0960-497B-92B1-82B276883E5E}" destId="{1898E415-7A15-462A-8C69-E400A0699DF0}" srcOrd="0" destOrd="0" presId="urn:microsoft.com/office/officeart/2005/8/layout/vList2"/>
    <dgm:cxn modelId="{7BB75D76-0E9F-4299-A6D3-25260EE93C2A}" type="presOf" srcId="{DE48A326-2850-45EB-ABEE-B10E3A7320CD}" destId="{0A9CDD97-870D-4356-94A6-5C52F2CD0804}" srcOrd="0" destOrd="0" presId="urn:microsoft.com/office/officeart/2005/8/layout/vList2"/>
    <dgm:cxn modelId="{6941A07C-766D-4439-98CF-02ED74F0BD02}" type="presOf" srcId="{7CEDC3EF-0283-44E7-BD92-C784728B8243}" destId="{9204F5DE-9AA3-41F5-B902-A2F624BC9F8D}" srcOrd="0" destOrd="0" presId="urn:microsoft.com/office/officeart/2005/8/layout/vList2"/>
    <dgm:cxn modelId="{B60A9F8C-0D9F-475D-9B3A-15F4EDD47B2C}" srcId="{44306811-DF4F-4A02-A067-CA847830E9E4}" destId="{7CEDC3EF-0283-44E7-BD92-C784728B8243}" srcOrd="4" destOrd="0" parTransId="{69B6BF8D-E1C4-4BE0-965A-5B866F02AA28}" sibTransId="{80E2CC3F-A7BC-4F76-9B27-84874969B7A8}"/>
    <dgm:cxn modelId="{AD72C390-EC9C-4D7A-9EF2-6317AF1EB0DB}" srcId="{44306811-DF4F-4A02-A067-CA847830E9E4}" destId="{F7DC7E39-5A4C-46FF-8177-546590FB49E7}" srcOrd="3" destOrd="0" parTransId="{53932807-CB42-4D5B-B49E-BE9F5CA173F2}" sibTransId="{035E34B6-8196-4E80-8C07-124E35332125}"/>
    <dgm:cxn modelId="{016A0BF0-2BA0-488F-9E5D-EF92FD5BD5FF}" srcId="{44306811-DF4F-4A02-A067-CA847830E9E4}" destId="{4D571331-0960-497B-92B1-82B276883E5E}" srcOrd="1" destOrd="0" parTransId="{5B010BA2-FA87-4B43-B025-985576CF3630}" sibTransId="{26585E66-8AE9-42AA-98A2-29207727C325}"/>
    <dgm:cxn modelId="{468128F2-7DDE-45D4-A546-4E65F006A9EC}" type="presOf" srcId="{17377F60-9B90-48D7-8305-A9A7893EB546}" destId="{2C46A361-B28B-426A-A528-7E879C5769DE}" srcOrd="0" destOrd="0" presId="urn:microsoft.com/office/officeart/2005/8/layout/vList2"/>
    <dgm:cxn modelId="{92C2D0AD-6DFD-4E22-8394-FD6E345D19FE}" type="presParOf" srcId="{36BF37F7-B081-48D1-B0D7-90C19E16F929}" destId="{2C46A361-B28B-426A-A528-7E879C5769DE}" srcOrd="0" destOrd="0" presId="urn:microsoft.com/office/officeart/2005/8/layout/vList2"/>
    <dgm:cxn modelId="{9D999367-6559-4306-9C9E-AF110780F2E8}" type="presParOf" srcId="{36BF37F7-B081-48D1-B0D7-90C19E16F929}" destId="{9279D3D2-0FBD-451A-B974-A0DC24C3EC0E}" srcOrd="1" destOrd="0" presId="urn:microsoft.com/office/officeart/2005/8/layout/vList2"/>
    <dgm:cxn modelId="{3CBB8F06-CD0A-490B-B959-D326AE3792AE}" type="presParOf" srcId="{36BF37F7-B081-48D1-B0D7-90C19E16F929}" destId="{1898E415-7A15-462A-8C69-E400A0699DF0}" srcOrd="2" destOrd="0" presId="urn:microsoft.com/office/officeart/2005/8/layout/vList2"/>
    <dgm:cxn modelId="{FCDE6986-57EA-4451-9353-40DA51AD8506}" type="presParOf" srcId="{36BF37F7-B081-48D1-B0D7-90C19E16F929}" destId="{1537952E-05F9-40E5-BA2A-8A89943C76B2}" srcOrd="3" destOrd="0" presId="urn:microsoft.com/office/officeart/2005/8/layout/vList2"/>
    <dgm:cxn modelId="{E4BE40CF-F3AA-420B-A281-6DBBF3081FBF}" type="presParOf" srcId="{36BF37F7-B081-48D1-B0D7-90C19E16F929}" destId="{0A9CDD97-870D-4356-94A6-5C52F2CD0804}" srcOrd="4" destOrd="0" presId="urn:microsoft.com/office/officeart/2005/8/layout/vList2"/>
    <dgm:cxn modelId="{9F9A2938-D746-4BE4-841D-C5FC1A65E697}" type="presParOf" srcId="{36BF37F7-B081-48D1-B0D7-90C19E16F929}" destId="{1C7FBA44-2A58-48A3-ABB4-3D28867F9E35}" srcOrd="5" destOrd="0" presId="urn:microsoft.com/office/officeart/2005/8/layout/vList2"/>
    <dgm:cxn modelId="{6CAEE51A-1D61-4A70-A18B-FF65A391D297}" type="presParOf" srcId="{36BF37F7-B081-48D1-B0D7-90C19E16F929}" destId="{406A6D68-45A8-48C3-8B3A-39F6BA79AD0F}" srcOrd="6" destOrd="0" presId="urn:microsoft.com/office/officeart/2005/8/layout/vList2"/>
    <dgm:cxn modelId="{63EB4888-2C78-451D-8BF9-779CF61DC792}" type="presParOf" srcId="{36BF37F7-B081-48D1-B0D7-90C19E16F929}" destId="{454759C6-7CC1-4C6E-A56E-7D21A35DD702}" srcOrd="7" destOrd="0" presId="urn:microsoft.com/office/officeart/2005/8/layout/vList2"/>
    <dgm:cxn modelId="{FF4B14D7-F1F6-45A5-9253-21D28BD00AE8}" type="presParOf" srcId="{36BF37F7-B081-48D1-B0D7-90C19E16F929}" destId="{9204F5DE-9AA3-41F5-B902-A2F624BC9F8D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46A361-B28B-426A-A528-7E879C5769DE}">
      <dsp:nvSpPr>
        <dsp:cNvPr id="0" name=""/>
        <dsp:cNvSpPr/>
      </dsp:nvSpPr>
      <dsp:spPr>
        <a:xfrm>
          <a:off x="0" y="0"/>
          <a:ext cx="4718719" cy="80496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 dirty="0"/>
            <a:t>图片上传</a:t>
          </a:r>
          <a:r>
            <a:rPr lang="en-US" altLang="zh-CN" sz="2000" b="1" kern="1200" dirty="0"/>
            <a:t>+</a:t>
          </a:r>
          <a:r>
            <a:rPr lang="zh-CN" altLang="en-US" sz="2000" b="1" kern="1200" dirty="0"/>
            <a:t>机型选择</a:t>
          </a:r>
          <a:endParaRPr lang="zh-CN" sz="2000" b="1" kern="1200" dirty="0"/>
        </a:p>
      </dsp:txBody>
      <dsp:txXfrm>
        <a:off x="39295" y="39295"/>
        <a:ext cx="4640129" cy="726370"/>
      </dsp:txXfrm>
    </dsp:sp>
    <dsp:sp modelId="{1898E415-7A15-462A-8C69-E400A0699DF0}">
      <dsp:nvSpPr>
        <dsp:cNvPr id="0" name=""/>
        <dsp:cNvSpPr/>
      </dsp:nvSpPr>
      <dsp:spPr>
        <a:xfrm>
          <a:off x="0" y="935342"/>
          <a:ext cx="4718719" cy="80496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1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 dirty="0"/>
            <a:t>AI</a:t>
          </a:r>
          <a:r>
            <a:rPr lang="zh-CN" altLang="en-US" sz="2000" b="1" kern="1200" dirty="0"/>
            <a:t>视觉缺陷自动分析</a:t>
          </a:r>
          <a:endParaRPr lang="zh-CN" sz="2000" b="1" kern="1200" dirty="0"/>
        </a:p>
      </dsp:txBody>
      <dsp:txXfrm>
        <a:off x="39295" y="974637"/>
        <a:ext cx="4640129" cy="726370"/>
      </dsp:txXfrm>
    </dsp:sp>
    <dsp:sp modelId="{0A9CDD97-870D-4356-94A6-5C52F2CD0804}">
      <dsp:nvSpPr>
        <dsp:cNvPr id="0" name=""/>
        <dsp:cNvSpPr/>
      </dsp:nvSpPr>
      <dsp:spPr>
        <a:xfrm>
          <a:off x="0" y="1864142"/>
          <a:ext cx="4718719" cy="80496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 dirty="0"/>
            <a:t>向量知识库智能检索</a:t>
          </a:r>
        </a:p>
      </dsp:txBody>
      <dsp:txXfrm>
        <a:off x="39295" y="1903437"/>
        <a:ext cx="4640129" cy="726370"/>
      </dsp:txXfrm>
    </dsp:sp>
    <dsp:sp modelId="{406A6D68-45A8-48C3-8B3A-39F6BA79AD0F}">
      <dsp:nvSpPr>
        <dsp:cNvPr id="0" name=""/>
        <dsp:cNvSpPr/>
      </dsp:nvSpPr>
      <dsp:spPr>
        <a:xfrm>
          <a:off x="0" y="2792942"/>
          <a:ext cx="4718719" cy="80496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3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 dirty="0"/>
            <a:t>结构化诊断报告生成</a:t>
          </a:r>
        </a:p>
      </dsp:txBody>
      <dsp:txXfrm>
        <a:off x="39295" y="2832237"/>
        <a:ext cx="4640129" cy="726370"/>
      </dsp:txXfrm>
    </dsp:sp>
    <dsp:sp modelId="{9204F5DE-9AA3-41F5-B902-A2F624BC9F8D}">
      <dsp:nvSpPr>
        <dsp:cNvPr id="0" name=""/>
        <dsp:cNvSpPr/>
      </dsp:nvSpPr>
      <dsp:spPr>
        <a:xfrm>
          <a:off x="0" y="3721742"/>
          <a:ext cx="4718719" cy="80496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i="0" kern="1200" dirty="0"/>
            <a:t>用户反馈收集闭环</a:t>
          </a:r>
          <a:endParaRPr lang="zh-CN" altLang="en-US" sz="2000" b="1" kern="1200" dirty="0"/>
        </a:p>
      </dsp:txBody>
      <dsp:txXfrm>
        <a:off x="39295" y="3761037"/>
        <a:ext cx="4640129" cy="7263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10.05.2026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为大家带来的项目是PrintQA，一个针对3D打印行业的多模态智能质检系统。它基于前沿的多模态RAG架构，旨在解决行业长期存在的缺陷诊断难题，并提供精准的参数优化建议。我们的系统融合了多模态视觉识别、知识库驱动诊断和闭环反馈优化三大核心能力，致力于将3D打印从“经验依赖”带入“智能驱动”的新时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首先来看一下3D打印行业的现状。尽管技术飞速发展，但行业的生产效率却被“经验依赖”这一隐形枷锁牢牢锁住。数据显示，FDM打印的平均良品率并不理想，失败率高达10-15%。每一次失败，不仅意味着材料的直接损失，更消耗了宝贵的排查工时。更严峻的是，超过70%的中小型服务商缺乏专职质检工程师，这使得质量控制完全依赖于操作员的个人经验，极其不稳定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问题的根源不在于设备，而在于人的经验无法被有效复制和传承。这导致了三大核心痛点：首先是知识孤岛，资深工程师的宝贵经验随其离职而流失；其次是效率低下，故障排查过程如同大海捞针，耗时耗力；最后是工具的缺失，现有的软件无法满足智能化、自动化的质检需求。这张图展示的就是一个典型的打印失败案例，操作员面对这样的结果往往束手无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市场上现有的解决方案表现如何呢？我们进行了深入分析。Authentise作为MES系统，强于流程管理但无法实时检测；Polyga的3D扫描方案只能做离线尺寸检测，对表面缺陷无能为力；而通用的ChatGPT缺乏领域知识和视觉能力。相比之下，PrintQA在自然语言交互、精确参数建议、专属知识库等多个维度上都具备明显优势。我们的结论是，现有产品都停留在“发现问题”的阶段，而PrintQA真正实现了从发现到解决的闭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差异化优势体现在四个方面。首先，我们提供自然语言对话式诊断，让操作像聊天一样简单。其次，我们的参数建议精确到具体数值，极具操作性。第三，我们构建了一个数据飞轮，让知识库通过用户反馈不断进化，越用越准。最后，我们的系统懂得“知之为知之，不知为不知”，在不确定时会主动声明，这在工业场景中至关重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这是我们系统的技术架构图，它清晰地展示了PrintQA绝不是简单的“套壳GPT”。我们构建了一个四层协同架构，涵盖了从用户交互到底层数据存储的完整链路。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左侧展示了系统的宏观分层，最核心的是第三层“AI推理层”，它串联了多个模型的能力，而不是单点调用。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侧展示了AI协同的三个关键步骤：第一步，利用GPT-4o强大的视觉能力将故障图片转化为文本描述；第二步，利用ChromaDB向量检索技术，在我们积累的故障知识库中找到最相似的历史案例，确保诊断有据可依；第三步，将上述信息整合，生成一份结构化、可落地的诊断报告。整个流程通过LangChain进行编排，保证了系统的逻辑严密性和可维护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我们的每一个技术选择都基于充分的工程考量。在先进性方面，我们采用了多模态RAG、GPT-4o Vision和向量语义检索等前沿技术，确保了系统的性能领先。在健壮性方面，我们构建了完善的图像预处理管线、置信度熔断机制和数据持久化方案，确保系统在工业环境下稳定、可靠。整个项目从第一天起就采用Git进行版本管理，保证了开发过程的规范性和可追溯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PrintQA能带来哪些可量化的价值呢？首先是诊断效率的巨大提升，我们将故障排查时间从45分钟压缩到5分钟以内。其次是诊断准确率，我们的目标是在原型阶段达到70%以上，并通过持续学习提升至85%以上。最后是商业价值，我们瞄准国内数万家中小型服务商，以极具竞争力的SaaS模式提供服务，市场空间广阔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63D46-C484-4236-DEE3-824B4A066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421DDC8-630B-D05D-BCE3-733FE918EDE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3860D4-2C2A-3D77-35A3-A5832B51294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7DEBC0A-0F84-5EAD-3F26-B87A4F4979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B8316F1-F01E-95D4-7912-549EBDB170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为大家带来的项目是PrintQA，一个针对3D打印行业的多模态智能质检系统。它基于前沿的多模态RAG架构，旨在解决行业长期存在的缺陷诊断难题，并提供精准的参数优化建议。我们的系统融合了多模态视觉识别、知识库驱动诊断和闭环反馈优化三大核心能力，致力于将3D打印从“经验依赖”带入“智能驱动”的新时代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75CC30-BCCE-F162-A1DF-BA3D1A6EA34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E58FCF-2B77-944E-B434-5A0E63DE13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5477427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jpe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.jpeg"/><Relationship Id="rId7" Type="http://schemas.openxmlformats.org/officeDocument/2006/relationships/image" Target="../media/image2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Relationship Id="rId9" Type="http://schemas.openxmlformats.org/officeDocument/2006/relationships/image" Target="../media/image28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.jpe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30.svg"/><Relationship Id="rId4" Type="http://schemas.openxmlformats.org/officeDocument/2006/relationships/image" Target="../media/image29.png"/><Relationship Id="rId9" Type="http://schemas.openxmlformats.org/officeDocument/2006/relationships/image" Target="../media/image32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Nanase233/print-qa-ai" TargetMode="External"/><Relationship Id="rId3" Type="http://schemas.openxmlformats.org/officeDocument/2006/relationships/diagramLayout" Target="../diagrams/layout1.xml"/><Relationship Id="rId7" Type="http://schemas.openxmlformats.org/officeDocument/2006/relationships/image" Target="../media/image33.jp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1905000"/>
            <a:ext cx="1041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4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PrintQA</a:t>
            </a:r>
            <a:r>
              <a:rPr lang="en-US" sz="44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 · 3D打印多模态智能质检系统</a:t>
            </a:r>
            <a:endParaRPr lang="en-US" sz="1050" dirty="0"/>
          </a:p>
        </p:txBody>
      </p:sp>
      <p:sp>
        <p:nvSpPr>
          <p:cNvPr id="4" name="AutoShape 4"/>
          <p:cNvSpPr/>
          <p:nvPr/>
        </p:nvSpPr>
        <p:spPr>
          <a:xfrm>
            <a:off x="1016000" y="3048001"/>
            <a:ext cx="1041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0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基于多模态RAG架构的缺陷诊断与参数优化助手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1270000" y="5080000"/>
            <a:ext cx="10160000" cy="812800"/>
          </a:xfrm>
          <a:prstGeom prst="roundRect">
            <a:avLst>
              <a:gd name="adj" fmla="val 12500"/>
            </a:avLst>
          </a:prstGeom>
          <a:solidFill>
            <a:srgbClr val="0052CC">
              <a:alpha val="10000"/>
            </a:srgbClr>
          </a:solidFill>
          <a:ln w="12700" cap="flat" cmpd="sng">
            <a:solidFill>
              <a:srgbClr val="0052CC">
                <a:alpha val="7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270000" y="52070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多模态视觉识别</a:t>
            </a:r>
            <a:r>
              <a:rPr lang="en-US" sz="2000" b="0" i="0" u="none" strike="noStrike" dirty="0" err="1">
                <a:solidFill>
                  <a:srgbClr val="0052CC"/>
                </a:solidFill>
                <a:latin typeface="Noto Sans SC"/>
                <a:ea typeface="Noto Sans SC"/>
                <a:cs typeface="Noto Sans SC"/>
                <a:sym typeface="Noto Sans SC"/>
              </a:rPr>
              <a:t>|</a:t>
            </a:r>
            <a:r>
              <a:rPr lang="en-US" sz="2000" b="0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知识库驱动诊断</a:t>
            </a:r>
            <a:r>
              <a:rPr lang="en-US" sz="2000" b="0" i="0" u="none" strike="noStrike" dirty="0" err="1">
                <a:solidFill>
                  <a:srgbClr val="0052CC"/>
                </a:solidFill>
                <a:latin typeface="Noto Sans SC"/>
                <a:ea typeface="Noto Sans SC"/>
                <a:cs typeface="Noto Sans SC"/>
                <a:sym typeface="Noto Sans SC"/>
              </a:rPr>
              <a:t>|</a:t>
            </a:r>
            <a:r>
              <a:rPr lang="en-US" sz="2000" b="0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闭环反馈优化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3D打印行业，正在被“经验依赖”拖累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302000" cy="3175000"/>
          </a:xfrm>
          <a:prstGeom prst="roundRect">
            <a:avLst>
              <a:gd name="adj" fmla="val 48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286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22606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52CC"/>
                </a:solidFill>
                <a:latin typeface="Noto Sans SC"/>
                <a:ea typeface="Noto Sans SC"/>
                <a:cs typeface="Noto Sans SC"/>
                <a:sym typeface="Noto Sans SC"/>
              </a:rPr>
              <a:t>85%-90%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30480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FDM打印平均良品率仅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937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失败率高达10-15%，每10次打印就有1-2次失败，生产稳定性存疑。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45000" y="2032000"/>
            <a:ext cx="3302000" cy="3175000"/>
          </a:xfrm>
          <a:prstGeom prst="roundRect">
            <a:avLst>
              <a:gd name="adj" fmla="val 48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99000" y="2286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207000" y="22606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52CC"/>
                </a:solidFill>
                <a:latin typeface="Noto Sans SC"/>
                <a:ea typeface="Noto Sans SC"/>
                <a:cs typeface="Noto Sans SC"/>
                <a:sym typeface="Noto Sans SC"/>
              </a:rPr>
              <a:t>+45 min+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99000" y="30480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每次失败的排查与试错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99000" y="3937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不仅直接损耗材料成本，每次失败还需投入45分钟以上的排查工时，严重侵蚀企业利润。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128000" y="2032000"/>
            <a:ext cx="3302000" cy="3175000"/>
          </a:xfrm>
          <a:prstGeom prst="roundRect">
            <a:avLst>
              <a:gd name="adj" fmla="val 48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82000" y="22860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890000" y="22606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52CC"/>
                </a:solidFill>
                <a:latin typeface="Noto Sans SC"/>
                <a:ea typeface="Noto Sans SC"/>
                <a:cs typeface="Noto Sans SC"/>
                <a:sym typeface="Noto Sans SC"/>
              </a:rPr>
              <a:t>&gt; 70%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382000" y="30480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中小服务商无专职质检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382000" y="3937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绝大多数中小服务商依赖操作员个人经验把控质量，缺乏标准化体系，难以保证交付一致性。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0" y="5715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数据来源：行业调研</a:t>
            </a: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/ </a:t>
            </a:r>
            <a:r>
              <a:rPr lang="zh-CN" alt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行业公开报告及用户调研</a:t>
            </a: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/ </a:t>
            </a:r>
            <a:r>
              <a:rPr lang="en-US" sz="12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Prusa官方知识库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不是设备不好，是经验无法复制</a:t>
            </a:r>
            <a:endParaRPr lang="en-US" sz="1100"/>
          </a:p>
        </p:txBody>
      </p:sp>
      <p:sp>
        <p:nvSpPr>
          <p:cNvPr id="17" name="AutoShape 5">
            <a:extLst>
              <a:ext uri="{FF2B5EF4-FFF2-40B4-BE49-F238E27FC236}">
                <a16:creationId xmlns:a16="http://schemas.microsoft.com/office/drawing/2014/main" id="{F582EB0A-2B65-2F39-755A-740D83D69842}"/>
              </a:ext>
            </a:extLst>
          </p:cNvPr>
          <p:cNvSpPr/>
          <p:nvPr/>
        </p:nvSpPr>
        <p:spPr>
          <a:xfrm>
            <a:off x="762000" y="1714500"/>
            <a:ext cx="102489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6">
            <a:extLst>
              <a:ext uri="{FF2B5EF4-FFF2-40B4-BE49-F238E27FC236}">
                <a16:creationId xmlns:a16="http://schemas.microsoft.com/office/drawing/2014/main" id="{C87278A4-5D80-E348-9417-3772B648B13D}"/>
              </a:ext>
            </a:extLst>
          </p:cNvPr>
          <p:cNvSpPr/>
          <p:nvPr/>
        </p:nvSpPr>
        <p:spPr>
          <a:xfrm>
            <a:off x="952500" y="1905000"/>
            <a:ext cx="1016000" cy="1016000"/>
          </a:xfrm>
          <a:prstGeom prst="roundRect">
            <a:avLst>
              <a:gd name="adj" fmla="val 10000"/>
            </a:avLst>
          </a:prstGeom>
          <a:solidFill>
            <a:srgbClr val="0052CC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7">
            <a:extLst>
              <a:ext uri="{FF2B5EF4-FFF2-40B4-BE49-F238E27FC236}">
                <a16:creationId xmlns:a16="http://schemas.microsoft.com/office/drawing/2014/main" id="{A0EEF6DF-52B0-E1D7-62A9-3DB151C984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81100" y="2133600"/>
            <a:ext cx="558800" cy="558800"/>
          </a:xfrm>
          <a:prstGeom prst="rect">
            <a:avLst/>
          </a:prstGeom>
        </p:spPr>
      </p:pic>
      <p:sp>
        <p:nvSpPr>
          <p:cNvPr id="20" name="AutoShape 8">
            <a:extLst>
              <a:ext uri="{FF2B5EF4-FFF2-40B4-BE49-F238E27FC236}">
                <a16:creationId xmlns:a16="http://schemas.microsoft.com/office/drawing/2014/main" id="{B5EBF2EF-F514-0A2C-7C9C-9C87DA619151}"/>
              </a:ext>
            </a:extLst>
          </p:cNvPr>
          <p:cNvSpPr/>
          <p:nvPr/>
        </p:nvSpPr>
        <p:spPr>
          <a:xfrm>
            <a:off x="2158999" y="1841500"/>
            <a:ext cx="8684926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 / </a:t>
            </a:r>
            <a:r>
              <a:rPr lang="en-US" sz="20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知识孤岛</a:t>
            </a:r>
            <a:endParaRPr lang="en-US" sz="1200" dirty="0"/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资深工程师的诊断能力靠2-3年积累，离职即消失，新员工完全无法独立处理故障。经验无法有效传承和复制。</a:t>
            </a:r>
          </a:p>
        </p:txBody>
      </p:sp>
      <p:sp>
        <p:nvSpPr>
          <p:cNvPr id="21" name="AutoShape 9">
            <a:extLst>
              <a:ext uri="{FF2B5EF4-FFF2-40B4-BE49-F238E27FC236}">
                <a16:creationId xmlns:a16="http://schemas.microsoft.com/office/drawing/2014/main" id="{D9E36F28-8898-FA6A-8FBC-894D5873BE3D}"/>
              </a:ext>
            </a:extLst>
          </p:cNvPr>
          <p:cNvSpPr/>
          <p:nvPr/>
        </p:nvSpPr>
        <p:spPr>
          <a:xfrm>
            <a:off x="761999" y="3365500"/>
            <a:ext cx="10248899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10">
            <a:extLst>
              <a:ext uri="{FF2B5EF4-FFF2-40B4-BE49-F238E27FC236}">
                <a16:creationId xmlns:a16="http://schemas.microsoft.com/office/drawing/2014/main" id="{070F8EFD-CCB6-5AAA-23B9-1293D59E8A1E}"/>
              </a:ext>
            </a:extLst>
          </p:cNvPr>
          <p:cNvSpPr/>
          <p:nvPr/>
        </p:nvSpPr>
        <p:spPr>
          <a:xfrm>
            <a:off x="952500" y="3556000"/>
            <a:ext cx="1016000" cy="1016000"/>
          </a:xfrm>
          <a:prstGeom prst="roundRect">
            <a:avLst>
              <a:gd name="adj" fmla="val 10000"/>
            </a:avLst>
          </a:prstGeom>
          <a:solidFill>
            <a:srgbClr val="0052CC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11">
            <a:extLst>
              <a:ext uri="{FF2B5EF4-FFF2-40B4-BE49-F238E27FC236}">
                <a16:creationId xmlns:a16="http://schemas.microsoft.com/office/drawing/2014/main" id="{1E921D74-C28F-11B0-34A9-7DAAF23335F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81100" y="3784600"/>
            <a:ext cx="558800" cy="558800"/>
          </a:xfrm>
          <a:prstGeom prst="rect">
            <a:avLst/>
          </a:prstGeom>
        </p:spPr>
      </p:pic>
      <p:sp>
        <p:nvSpPr>
          <p:cNvPr id="24" name="AutoShape 12">
            <a:extLst>
              <a:ext uri="{FF2B5EF4-FFF2-40B4-BE49-F238E27FC236}">
                <a16:creationId xmlns:a16="http://schemas.microsoft.com/office/drawing/2014/main" id="{2A7DC056-0DDE-2623-DBFD-5953C4798447}"/>
              </a:ext>
            </a:extLst>
          </p:cNvPr>
          <p:cNvSpPr/>
          <p:nvPr/>
        </p:nvSpPr>
        <p:spPr>
          <a:xfrm>
            <a:off x="2158999" y="3492500"/>
            <a:ext cx="8684926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 / </a:t>
            </a:r>
            <a:r>
              <a:rPr lang="en-US" sz="20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效率低下</a:t>
            </a:r>
            <a:endParaRPr lang="en-US" sz="1200" dirty="0"/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每次缺陷排查依赖逐一试错，平均耗时45分钟以上，严重影响交付周期和生产效率。</a:t>
            </a:r>
          </a:p>
        </p:txBody>
      </p:sp>
      <p:sp>
        <p:nvSpPr>
          <p:cNvPr id="25" name="AutoShape 13">
            <a:extLst>
              <a:ext uri="{FF2B5EF4-FFF2-40B4-BE49-F238E27FC236}">
                <a16:creationId xmlns:a16="http://schemas.microsoft.com/office/drawing/2014/main" id="{D2060780-307A-EFF0-CAAB-40472FDEBB3B}"/>
              </a:ext>
            </a:extLst>
          </p:cNvPr>
          <p:cNvSpPr/>
          <p:nvPr/>
        </p:nvSpPr>
        <p:spPr>
          <a:xfrm>
            <a:off x="762000" y="5016500"/>
            <a:ext cx="10248898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14">
            <a:extLst>
              <a:ext uri="{FF2B5EF4-FFF2-40B4-BE49-F238E27FC236}">
                <a16:creationId xmlns:a16="http://schemas.microsoft.com/office/drawing/2014/main" id="{E7B0CD89-10F3-FAD3-D4F6-3998B9D7C88C}"/>
              </a:ext>
            </a:extLst>
          </p:cNvPr>
          <p:cNvSpPr/>
          <p:nvPr/>
        </p:nvSpPr>
        <p:spPr>
          <a:xfrm>
            <a:off x="952500" y="5207000"/>
            <a:ext cx="1016000" cy="1016000"/>
          </a:xfrm>
          <a:prstGeom prst="roundRect">
            <a:avLst>
              <a:gd name="adj" fmla="val 10000"/>
            </a:avLst>
          </a:prstGeom>
          <a:solidFill>
            <a:srgbClr val="0052CC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7" name="Picture 15">
            <a:extLst>
              <a:ext uri="{FF2B5EF4-FFF2-40B4-BE49-F238E27FC236}">
                <a16:creationId xmlns:a16="http://schemas.microsoft.com/office/drawing/2014/main" id="{9C410DCB-07C8-1732-3455-8FBC47B286F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81100" y="5435600"/>
            <a:ext cx="558800" cy="558800"/>
          </a:xfrm>
          <a:prstGeom prst="rect">
            <a:avLst/>
          </a:prstGeom>
        </p:spPr>
      </p:pic>
      <p:sp>
        <p:nvSpPr>
          <p:cNvPr id="28" name="AutoShape 16">
            <a:extLst>
              <a:ext uri="{FF2B5EF4-FFF2-40B4-BE49-F238E27FC236}">
                <a16:creationId xmlns:a16="http://schemas.microsoft.com/office/drawing/2014/main" id="{F208D5ED-AED0-2D5A-C6D5-2C35220438AF}"/>
              </a:ext>
            </a:extLst>
          </p:cNvPr>
          <p:cNvSpPr/>
          <p:nvPr/>
        </p:nvSpPr>
        <p:spPr>
          <a:xfrm>
            <a:off x="2158999" y="5143500"/>
            <a:ext cx="8684926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 / </a:t>
            </a:r>
            <a:r>
              <a:rPr lang="en-US" sz="20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工具缺口</a:t>
            </a:r>
            <a:endParaRPr lang="en-US" sz="1200" dirty="0"/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现有质检软件只做事后图像检测，缺乏自然语言交互能力，无法提供参数建议，更无法将经验沉淀为知识</a:t>
            </a:r>
            <a:r>
              <a:rPr lang="en-US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现有方案做到了检测，但做不到诊断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3683000"/>
          </a:xfrm>
          <a:prstGeom prst="roundRect">
            <a:avLst>
              <a:gd name="adj" fmla="val 4137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841500"/>
            <a:ext cx="1651000" cy="3302000"/>
          </a:xfrm>
          <a:prstGeom prst="roundRect">
            <a:avLst>
              <a:gd name="adj" fmla="val 6153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2032000"/>
            <a:ext cx="15240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33333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自然语言交互</a:t>
            </a:r>
            <a:endParaRPr lang="en-US" sz="1100"/>
          </a:p>
          <a:p>
            <a:pPr indent="0" algn="ctr">
              <a:lnSpc>
                <a:spcPct val="133333"/>
              </a:lnSpc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参数建议</a:t>
            </a:r>
            <a:b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精确到数值</a:t>
            </a:r>
          </a:p>
          <a:p>
            <a:pPr indent="0" algn="ctr">
              <a:lnSpc>
                <a:spcPct val="133333"/>
              </a:lnSpc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专属缺陷</a:t>
            </a:r>
            <a:b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知识库</a:t>
            </a:r>
          </a:p>
          <a:p>
            <a:pPr indent="0" algn="ctr">
              <a:lnSpc>
                <a:spcPct val="133333"/>
              </a:lnSpc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机型适配层</a:t>
            </a:r>
          </a:p>
          <a:p>
            <a:pPr indent="0" algn="ctr">
              <a:lnSpc>
                <a:spcPct val="133333"/>
              </a:lnSpc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闭环反馈机制</a:t>
            </a:r>
          </a:p>
          <a:p>
            <a:pPr indent="0" algn="ctr">
              <a:lnSpc>
                <a:spcPct val="133333"/>
              </a:lnSpc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部署成本低</a:t>
            </a:r>
          </a:p>
        </p:txBody>
      </p:sp>
      <p:sp>
        <p:nvSpPr>
          <p:cNvPr id="7" name="AutoShape 7"/>
          <p:cNvSpPr/>
          <p:nvPr/>
        </p:nvSpPr>
        <p:spPr>
          <a:xfrm>
            <a:off x="2730500" y="1841500"/>
            <a:ext cx="1905000" cy="3302000"/>
          </a:xfrm>
          <a:prstGeom prst="roundRect">
            <a:avLst>
              <a:gd name="adj" fmla="val 5333"/>
            </a:avLst>
          </a:prstGeom>
          <a:solidFill>
            <a:srgbClr val="0052CC">
              <a:alpha val="15000"/>
            </a:srgbClr>
          </a:solidFill>
          <a:ln w="25400" cap="flat" cmpd="sng">
            <a:solidFill>
              <a:srgbClr val="0052CC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2794000" y="2540000"/>
            <a:ext cx="1778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1800" b="0" i="0" u="none" strike="noStrike">
                <a:solidFill>
                  <a:srgbClr val="0052CC"/>
                </a:solidFill>
                <a:latin typeface="Noto Sans SC"/>
                <a:ea typeface="Noto Sans SC"/>
                <a:cs typeface="Noto Sans SC"/>
                <a:sym typeface="Noto Sans SC"/>
              </a:rPr>
              <a:t>✅</a:t>
            </a:r>
            <a:endParaRPr lang="en-US" sz="1100"/>
          </a:p>
          <a:p>
            <a:pPr indent="0" algn="ctr">
              <a:lnSpc>
                <a:spcPct val="116666"/>
              </a:lnSpc>
            </a:pPr>
            <a:r>
              <a:rPr lang="en-US" sz="1800" b="0" i="0" u="none" strike="noStrike">
                <a:solidFill>
                  <a:srgbClr val="0052CC"/>
                </a:solidFill>
                <a:latin typeface="Noto Sans SC"/>
                <a:ea typeface="Noto Sans SC"/>
                <a:cs typeface="Noto Sans SC"/>
                <a:sym typeface="Noto Sans SC"/>
              </a:rPr>
              <a:t>✅</a:t>
            </a:r>
          </a:p>
          <a:p>
            <a:pPr indent="0" algn="ctr">
              <a:lnSpc>
                <a:spcPct val="116666"/>
              </a:lnSpc>
            </a:pPr>
            <a:r>
              <a:rPr lang="en-US" sz="1800" b="0" i="0" u="none" strike="noStrike">
                <a:solidFill>
                  <a:srgbClr val="0052CC"/>
                </a:solidFill>
                <a:latin typeface="Noto Sans SC"/>
                <a:ea typeface="Noto Sans SC"/>
                <a:cs typeface="Noto Sans SC"/>
                <a:sym typeface="Noto Sans SC"/>
              </a:rPr>
              <a:t>✅</a:t>
            </a:r>
          </a:p>
          <a:p>
            <a:pPr indent="0" algn="ctr">
              <a:lnSpc>
                <a:spcPct val="116666"/>
              </a:lnSpc>
            </a:pPr>
            <a:r>
              <a:rPr lang="en-US" sz="1800" b="0" i="0" u="none" strike="noStrike">
                <a:solidFill>
                  <a:srgbClr val="0052CC"/>
                </a:solidFill>
                <a:latin typeface="Noto Sans SC"/>
                <a:ea typeface="Noto Sans SC"/>
                <a:cs typeface="Noto Sans SC"/>
                <a:sym typeface="Noto Sans SC"/>
              </a:rPr>
              <a:t>✅</a:t>
            </a:r>
          </a:p>
          <a:p>
            <a:pPr indent="0" algn="ctr">
              <a:lnSpc>
                <a:spcPct val="116666"/>
              </a:lnSpc>
            </a:pPr>
            <a:r>
              <a:rPr lang="en-US" sz="1800" b="0" i="0" u="none" strike="noStrike">
                <a:solidFill>
                  <a:srgbClr val="0052CC"/>
                </a:solidFill>
                <a:latin typeface="Noto Sans SC"/>
                <a:ea typeface="Noto Sans SC"/>
                <a:cs typeface="Noto Sans SC"/>
                <a:sym typeface="Noto Sans SC"/>
              </a:rPr>
              <a:t>✅</a:t>
            </a:r>
          </a:p>
          <a:p>
            <a:pPr indent="0" algn="ctr">
              <a:lnSpc>
                <a:spcPct val="116666"/>
              </a:lnSpc>
            </a:pPr>
            <a:r>
              <a:rPr lang="en-US" sz="1800" b="0" i="0" u="none" strike="noStrike">
                <a:solidFill>
                  <a:srgbClr val="0052CC"/>
                </a:solidFill>
                <a:latin typeface="Noto Sans SC"/>
                <a:ea typeface="Noto Sans SC"/>
                <a:cs typeface="Noto Sans SC"/>
                <a:sym typeface="Noto Sans SC"/>
              </a:rPr>
              <a:t>✅</a:t>
            </a:r>
          </a:p>
        </p:txBody>
      </p:sp>
      <p:sp>
        <p:nvSpPr>
          <p:cNvPr id="10" name="AutoShape 10"/>
          <p:cNvSpPr/>
          <p:nvPr/>
        </p:nvSpPr>
        <p:spPr>
          <a:xfrm>
            <a:off x="4762500" y="1841500"/>
            <a:ext cx="1905000" cy="3302000"/>
          </a:xfrm>
          <a:prstGeom prst="roundRect">
            <a:avLst>
              <a:gd name="adj" fmla="val 533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826000" y="2540000"/>
            <a:ext cx="1778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1800" b="0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❌</a:t>
            </a:r>
            <a:endParaRPr lang="en-US" sz="1100"/>
          </a:p>
          <a:p>
            <a:pPr indent="0" algn="ctr">
              <a:lnSpc>
                <a:spcPct val="116666"/>
              </a:lnSpc>
            </a:pPr>
            <a:r>
              <a:rPr lang="en-US" sz="1800" b="0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❌</a:t>
            </a:r>
          </a:p>
          <a:p>
            <a:pPr indent="0" algn="ctr">
              <a:lnSpc>
                <a:spcPct val="116666"/>
              </a:lnSpc>
            </a:pPr>
            <a:r>
              <a:rPr lang="en-US" sz="1800" b="0" i="0" u="none" strike="noStrike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⚠️</a:t>
            </a:r>
          </a:p>
          <a:p>
            <a:pPr indent="0" algn="ctr">
              <a:lnSpc>
                <a:spcPct val="116666"/>
              </a:lnSpc>
            </a:pPr>
            <a:r>
              <a:rPr lang="en-US" sz="1800" b="0" i="0" u="none" strike="noStrike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⚠️</a:t>
            </a:r>
          </a:p>
          <a:p>
            <a:pPr indent="0" algn="ctr">
              <a:lnSpc>
                <a:spcPct val="116666"/>
              </a:lnSpc>
            </a:pPr>
            <a:r>
              <a:rPr lang="en-US" sz="1800" b="0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❌</a:t>
            </a:r>
          </a:p>
          <a:p>
            <a:pPr indent="0" algn="ctr">
              <a:lnSpc>
                <a:spcPct val="116666"/>
              </a:lnSpc>
            </a:pPr>
            <a:r>
              <a:rPr lang="en-US" sz="1800" b="0" i="0" u="none" strike="noStrike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⚠️</a:t>
            </a:r>
          </a:p>
        </p:txBody>
      </p:sp>
      <p:sp>
        <p:nvSpPr>
          <p:cNvPr id="14" name="AutoShape 14"/>
          <p:cNvSpPr/>
          <p:nvPr/>
        </p:nvSpPr>
        <p:spPr>
          <a:xfrm>
            <a:off x="6794500" y="1841500"/>
            <a:ext cx="1905000" cy="3302000"/>
          </a:xfrm>
          <a:prstGeom prst="roundRect">
            <a:avLst>
              <a:gd name="adj" fmla="val 533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858000" y="2540000"/>
            <a:ext cx="1778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1800" b="0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❌</a:t>
            </a:r>
            <a:endParaRPr lang="en-US" sz="1100"/>
          </a:p>
          <a:p>
            <a:pPr indent="0" algn="ctr">
              <a:lnSpc>
                <a:spcPct val="116666"/>
              </a:lnSpc>
            </a:pPr>
            <a:r>
              <a:rPr lang="en-US" sz="1800" b="0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❌</a:t>
            </a:r>
          </a:p>
          <a:p>
            <a:pPr indent="0" algn="ctr">
              <a:lnSpc>
                <a:spcPct val="116666"/>
              </a:lnSpc>
            </a:pPr>
            <a:r>
              <a:rPr lang="en-US" sz="1800" b="0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❌</a:t>
            </a:r>
          </a:p>
          <a:p>
            <a:pPr indent="0" algn="ctr">
              <a:lnSpc>
                <a:spcPct val="116666"/>
              </a:lnSpc>
            </a:pPr>
            <a:r>
              <a:rPr lang="en-US" sz="1800" b="0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❌</a:t>
            </a:r>
          </a:p>
          <a:p>
            <a:pPr indent="0" algn="ctr">
              <a:lnSpc>
                <a:spcPct val="116666"/>
              </a:lnSpc>
            </a:pPr>
            <a:r>
              <a:rPr lang="en-US" sz="1800" b="0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❌</a:t>
            </a:r>
          </a:p>
          <a:p>
            <a:pPr indent="0" algn="ctr">
              <a:lnSpc>
                <a:spcPct val="116666"/>
              </a:lnSpc>
            </a:pPr>
            <a:r>
              <a:rPr lang="en-US" sz="1800" b="0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❌</a:t>
            </a:r>
          </a:p>
        </p:txBody>
      </p:sp>
      <p:sp>
        <p:nvSpPr>
          <p:cNvPr id="18" name="AutoShape 18"/>
          <p:cNvSpPr/>
          <p:nvPr/>
        </p:nvSpPr>
        <p:spPr>
          <a:xfrm>
            <a:off x="8826500" y="1841500"/>
            <a:ext cx="1905000" cy="3302000"/>
          </a:xfrm>
          <a:prstGeom prst="roundRect">
            <a:avLst>
              <a:gd name="adj" fmla="val 533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8890000" y="2540000"/>
            <a:ext cx="1778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1800" b="0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✅</a:t>
            </a:r>
            <a:endParaRPr lang="en-US" sz="1100"/>
          </a:p>
          <a:p>
            <a:pPr indent="0" algn="ctr">
              <a:lnSpc>
                <a:spcPct val="116666"/>
              </a:lnSpc>
            </a:pPr>
            <a:r>
              <a:rPr lang="en-US" sz="1800" b="0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❌</a:t>
            </a:r>
          </a:p>
          <a:p>
            <a:pPr indent="0" algn="ctr">
              <a:lnSpc>
                <a:spcPct val="116666"/>
              </a:lnSpc>
            </a:pPr>
            <a:r>
              <a:rPr lang="en-US" sz="1800" b="0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❌</a:t>
            </a:r>
          </a:p>
          <a:p>
            <a:pPr indent="0" algn="ctr">
              <a:lnSpc>
                <a:spcPct val="116666"/>
              </a:lnSpc>
            </a:pPr>
            <a:r>
              <a:rPr lang="en-US" sz="1800" b="0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❌</a:t>
            </a:r>
          </a:p>
          <a:p>
            <a:pPr indent="0" algn="ctr">
              <a:lnSpc>
                <a:spcPct val="116666"/>
              </a:lnSpc>
            </a:pPr>
            <a:r>
              <a:rPr lang="en-US" sz="1800" b="0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❌</a:t>
            </a:r>
          </a:p>
          <a:p>
            <a:pPr indent="0" algn="ctr">
              <a:lnSpc>
                <a:spcPct val="116666"/>
              </a:lnSpc>
            </a:pPr>
            <a:r>
              <a:rPr lang="en-US" sz="1800" b="0" i="0" u="none" strike="noStrike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⚠️</a:t>
            </a:r>
          </a:p>
        </p:txBody>
      </p:sp>
      <p:sp>
        <p:nvSpPr>
          <p:cNvPr id="22" name="AutoShape 22"/>
          <p:cNvSpPr/>
          <p:nvPr/>
        </p:nvSpPr>
        <p:spPr>
          <a:xfrm>
            <a:off x="762000" y="5588000"/>
            <a:ext cx="10668000" cy="889000"/>
          </a:xfrm>
          <a:prstGeom prst="roundRect">
            <a:avLst>
              <a:gd name="adj" fmla="val 17142"/>
            </a:avLst>
          </a:prstGeom>
          <a:solidFill>
            <a:srgbClr val="0052CC"/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762000" y="5588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💡 结论：现有产品在“发现问题”阶段止步，PrintQA从发现延伸到解决</a:t>
            </a:r>
            <a:endParaRPr lang="en-US" sz="1100"/>
          </a:p>
        </p:txBody>
      </p:sp>
      <p:sp>
        <p:nvSpPr>
          <p:cNvPr id="24" name="AutoShape 8">
            <a:extLst>
              <a:ext uri="{FF2B5EF4-FFF2-40B4-BE49-F238E27FC236}">
                <a16:creationId xmlns:a16="http://schemas.microsoft.com/office/drawing/2014/main" id="{E48814C8-01C8-A707-01A8-B063396F8C79}"/>
              </a:ext>
            </a:extLst>
          </p:cNvPr>
          <p:cNvSpPr/>
          <p:nvPr/>
        </p:nvSpPr>
        <p:spPr>
          <a:xfrm>
            <a:off x="2794000" y="1950089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065F46"/>
                </a:solidFill>
                <a:latin typeface="Noto Sans SC"/>
                <a:ea typeface="Noto Sans SC"/>
                <a:cs typeface="Noto Sans SC"/>
                <a:sym typeface="Noto Sans SC"/>
              </a:rPr>
              <a:t>PrintQA</a:t>
            </a:r>
            <a:endParaRPr lang="en-US" sz="1100" dirty="0"/>
          </a:p>
        </p:txBody>
      </p:sp>
      <p:sp>
        <p:nvSpPr>
          <p:cNvPr id="25" name="AutoShape 12">
            <a:extLst>
              <a:ext uri="{FF2B5EF4-FFF2-40B4-BE49-F238E27FC236}">
                <a16:creationId xmlns:a16="http://schemas.microsoft.com/office/drawing/2014/main" id="{D6F7F382-0B3B-BF94-E5B0-2B13A1EEC093}"/>
              </a:ext>
            </a:extLst>
          </p:cNvPr>
          <p:cNvSpPr/>
          <p:nvPr/>
        </p:nvSpPr>
        <p:spPr>
          <a:xfrm>
            <a:off x="5143500" y="1950089"/>
            <a:ext cx="127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Authentise</a:t>
            </a:r>
            <a:endParaRPr lang="en-US" sz="1100" dirty="0"/>
          </a:p>
        </p:txBody>
      </p:sp>
      <p:sp>
        <p:nvSpPr>
          <p:cNvPr id="26" name="AutoShape 16">
            <a:extLst>
              <a:ext uri="{FF2B5EF4-FFF2-40B4-BE49-F238E27FC236}">
                <a16:creationId xmlns:a16="http://schemas.microsoft.com/office/drawing/2014/main" id="{2FD745DA-DB9D-FCD8-58F8-2B4BD4C9073B}"/>
              </a:ext>
            </a:extLst>
          </p:cNvPr>
          <p:cNvSpPr/>
          <p:nvPr/>
        </p:nvSpPr>
        <p:spPr>
          <a:xfrm>
            <a:off x="7397750" y="1950089"/>
            <a:ext cx="114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Polyga</a:t>
            </a:r>
            <a:endParaRPr lang="en-US" sz="1100" dirty="0"/>
          </a:p>
        </p:txBody>
      </p:sp>
      <p:sp>
        <p:nvSpPr>
          <p:cNvPr id="27" name="AutoShape 20">
            <a:extLst>
              <a:ext uri="{FF2B5EF4-FFF2-40B4-BE49-F238E27FC236}">
                <a16:creationId xmlns:a16="http://schemas.microsoft.com/office/drawing/2014/main" id="{EFE50074-059B-A45E-EA37-DF5F4F70BF65}"/>
              </a:ext>
            </a:extLst>
          </p:cNvPr>
          <p:cNvSpPr/>
          <p:nvPr/>
        </p:nvSpPr>
        <p:spPr>
          <a:xfrm>
            <a:off x="9048750" y="1950089"/>
            <a:ext cx="1460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通用</a:t>
            </a:r>
            <a:r>
              <a:rPr lang="zh-CN" altLang="en-US" sz="15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大语言模型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四个竞品没有、我们独有的能力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800" y="2286000"/>
            <a:ext cx="711200" cy="711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2082800" y="2032000"/>
            <a:ext cx="3556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自然语言对话式诊断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操作员拍照上传，系统用人话给出诊断，零学习成本上手。就像和专家对话一样简单，极大降低一线人员的使用门槛。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6223000" y="1778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27800" y="2286000"/>
            <a:ext cx="711200" cy="7112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543800" y="2032000"/>
            <a:ext cx="3556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参数建议精确到数值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拒绝模糊的“适当提高温度”，而是给出“床温从55°C调至65°C，启用5mm Brim”的具体指令，提供可直接执行的确定性解决方案。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62000" y="4191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66800" y="4699000"/>
            <a:ext cx="711200" cy="711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2082800" y="4445000"/>
            <a:ext cx="3556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9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用户反馈驱动的知识闭环</a:t>
            </a:r>
            <a:endParaRPr lang="en-US" sz="1100" dirty="0"/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每次用户的“问题已解决”或“方案无效”反馈，都会转化为高质量标注数据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r>
              <a:rPr lang="zh-CN" altLang="en-US" sz="1300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每次反馈都转化为知识库的优化信号，形成持续迭代的诊断能力。</a:t>
            </a:r>
            <a:endParaRPr lang="en-US" sz="1300" b="0" i="0" u="none" strike="noStrike" dirty="0">
              <a:solidFill>
                <a:srgbClr val="37415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223000" y="4191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27800" y="4699000"/>
            <a:ext cx="711200" cy="7112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543800" y="4445000"/>
            <a:ext cx="3556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主动声明不确定性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当AI对诊断结果的置信度低于0.6时，系统会主动提示“暂无法精准判断”并建议联系人工专家，避免产生误导，确保工业场景下的可靠性。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三层AI协同架构</a:t>
            </a:r>
            <a:r>
              <a:rPr lang="en-US" sz="32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r>
              <a:rPr lang="zh-CN" altLang="en-US" sz="32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超越简单对话的工业诊断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1041400"/>
          </a:xfrm>
          <a:prstGeom prst="roundRect">
            <a:avLst>
              <a:gd name="adj" fmla="val 975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76200" cy="10414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1778000"/>
            <a:ext cx="4699000" cy="787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 / 用户界面层 (User Interface)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基于 Streamlit 构建：支持图片上传、诊断报告实时渲染、以及用户反馈交互按钮。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762000" y="2921000"/>
            <a:ext cx="5207000" cy="1041400"/>
          </a:xfrm>
          <a:prstGeom prst="roundRect">
            <a:avLst>
              <a:gd name="adj" fmla="val 975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762000" y="2921000"/>
            <a:ext cx="76200" cy="10414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016000" y="3048000"/>
            <a:ext cx="4699000" cy="787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 / API </a:t>
            </a:r>
            <a:r>
              <a:rPr lang="en-US" sz="18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服务层</a:t>
            </a:r>
            <a:r>
              <a:rPr lang="en-US" sz="18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 (Backend Service)</a:t>
            </a:r>
            <a:endParaRPr lang="en-US" sz="1100" dirty="0"/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高性能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FastAPI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框架：提供标准化接口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 /diagnose(</a:t>
            </a:r>
            <a:r>
              <a:rPr lang="en-US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诊断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)、/feedback(</a:t>
            </a:r>
            <a:r>
              <a:rPr lang="en-US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反馈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)、/stats(</a:t>
            </a:r>
            <a:r>
              <a:rPr lang="en-US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统计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r>
              <a:rPr lang="zh-CN" alt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接口，支持异步并发请求。</a:t>
            </a:r>
            <a:endParaRPr lang="en-US" sz="1300" b="0" i="0" u="none" strike="noStrike" dirty="0">
              <a:solidFill>
                <a:srgbClr val="37415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4191000"/>
            <a:ext cx="5207000" cy="1041400"/>
          </a:xfrm>
          <a:prstGeom prst="roundRect">
            <a:avLst>
              <a:gd name="adj" fmla="val 9756"/>
            </a:avLst>
          </a:prstGeom>
          <a:solidFill>
            <a:srgbClr val="EFF6FF">
              <a:alpha val="100000"/>
            </a:srgbClr>
          </a:solidFill>
          <a:ln w="25400" cap="flat" cmpd="sng">
            <a:solidFill>
              <a:srgbClr val="0052CC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016000" y="4318000"/>
            <a:ext cx="4699000" cy="787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0052CC"/>
                </a:solidFill>
                <a:latin typeface="Noto Sans SC"/>
                <a:ea typeface="Noto Sans SC"/>
                <a:cs typeface="Noto Sans SC"/>
                <a:sym typeface="Noto Sans SC"/>
              </a:rPr>
              <a:t>03 / AI </a:t>
            </a:r>
            <a:r>
              <a:rPr lang="en-US" sz="1800" b="1" i="0" u="none" strike="noStrike" dirty="0" err="1">
                <a:solidFill>
                  <a:srgbClr val="0052CC"/>
                </a:solidFill>
                <a:latin typeface="Noto Sans SC"/>
                <a:ea typeface="Noto Sans SC"/>
                <a:cs typeface="Noto Sans SC"/>
                <a:sym typeface="Noto Sans SC"/>
              </a:rPr>
              <a:t>推理层</a:t>
            </a:r>
            <a:r>
              <a:rPr lang="en-US" sz="1800" b="1" i="0" u="none" strike="noStrike" dirty="0">
                <a:solidFill>
                  <a:srgbClr val="0052CC"/>
                </a:solidFill>
                <a:latin typeface="Noto Sans SC"/>
                <a:ea typeface="Noto Sans SC"/>
                <a:cs typeface="Noto Sans SC"/>
                <a:sym typeface="Noto Sans SC"/>
              </a:rPr>
              <a:t> (Core Logic) - </a:t>
            </a:r>
            <a:r>
              <a:rPr lang="en-US" sz="1800" b="1" i="0" u="none" strike="noStrike" dirty="0" err="1">
                <a:solidFill>
                  <a:srgbClr val="0052CC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核心引擎</a:t>
            </a:r>
            <a:endParaRPr lang="en-US" sz="1100" dirty="0"/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Q</a:t>
            </a:r>
            <a:r>
              <a:rPr lang="en-US" altLang="zh-CN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wen-VL(</a:t>
            </a:r>
            <a:r>
              <a:rPr lang="zh-CN" alt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特征提取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) → </a:t>
            </a:r>
            <a:r>
              <a:rPr lang="en-US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ChromaDB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 (</a:t>
            </a:r>
            <a:r>
              <a:rPr lang="en-US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向量检索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) → Qwen-VL-Max (</a:t>
            </a:r>
            <a:r>
              <a:rPr lang="en-US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报告生成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</a:p>
        </p:txBody>
      </p:sp>
      <p:sp>
        <p:nvSpPr>
          <p:cNvPr id="12" name="AutoShape 12"/>
          <p:cNvSpPr/>
          <p:nvPr/>
        </p:nvSpPr>
        <p:spPr>
          <a:xfrm>
            <a:off x="762000" y="5397500"/>
            <a:ext cx="5207000" cy="1041400"/>
          </a:xfrm>
          <a:prstGeom prst="roundRect">
            <a:avLst>
              <a:gd name="adj" fmla="val 975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762000" y="5397500"/>
            <a:ext cx="76200" cy="10414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1016000" y="5524500"/>
            <a:ext cx="4699000" cy="787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04 / 数据存储层 (Data Layer)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ChromaDB 向量数据库 (存储特征) + SQLite 关系型数据库 (存储元数据与历史记录)。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6223000" y="1651000"/>
            <a:ext cx="5207000" cy="1206500"/>
          </a:xfrm>
          <a:prstGeom prst="roundRect">
            <a:avLst>
              <a:gd name="adj" fmla="val 842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19050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239000" y="18415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0052CC"/>
                </a:solidFill>
                <a:latin typeface="Noto Sans SC"/>
                <a:ea typeface="Noto Sans SC"/>
                <a:cs typeface="Noto Sans SC"/>
                <a:sym typeface="Noto Sans SC"/>
              </a:rPr>
              <a:t>组件</a:t>
            </a:r>
            <a:r>
              <a:rPr lang="en-US" sz="1600" b="1" i="0" u="none" strike="noStrike" dirty="0">
                <a:solidFill>
                  <a:srgbClr val="0052CC"/>
                </a:solidFill>
                <a:latin typeface="Noto Sans SC"/>
                <a:ea typeface="Noto Sans SC"/>
                <a:cs typeface="Noto Sans SC"/>
                <a:sym typeface="Noto Sans SC"/>
              </a:rPr>
              <a:t> 1: </a:t>
            </a:r>
            <a:r>
              <a:rPr lang="en-US" sz="1600" b="1" i="0" u="none" strike="noStrike" dirty="0" err="1">
                <a:solidFill>
                  <a:srgbClr val="0052CC"/>
                </a:solidFill>
                <a:latin typeface="Noto Sans SC"/>
                <a:ea typeface="Noto Sans SC"/>
                <a:cs typeface="Noto Sans SC"/>
                <a:sym typeface="Noto Sans SC"/>
              </a:rPr>
              <a:t>视觉理解</a:t>
            </a:r>
            <a:r>
              <a:rPr lang="en-US" sz="1600" b="1" i="0" u="none" strike="noStrike" dirty="0">
                <a:solidFill>
                  <a:srgbClr val="0052CC"/>
                </a:solidFill>
                <a:latin typeface="Noto Sans SC"/>
                <a:ea typeface="Noto Sans SC"/>
                <a:cs typeface="Noto Sans SC"/>
                <a:sym typeface="Noto Sans SC"/>
              </a:rPr>
              <a:t> (Visual Understanding)</a:t>
            </a:r>
            <a:endParaRPr lang="en-US" sz="1100" dirty="0"/>
          </a:p>
          <a:p>
            <a:pPr indent="0" algn="l">
              <a:lnSpc>
                <a:spcPct val="100000"/>
              </a:lnSpc>
            </a:pPr>
            <a:r>
              <a:rPr lang="zh-CN" alt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调用</a:t>
            </a:r>
            <a:r>
              <a:rPr lang="en-US" altLang="zh-CN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Qwen-VL</a:t>
            </a:r>
            <a:r>
              <a:rPr lang="en-US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将上传的打印机故障图片，转化为高精度的自然语言结构化描述，为后续推理奠定基础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8" name="AutoShape 18"/>
          <p:cNvSpPr/>
          <p:nvPr/>
        </p:nvSpPr>
        <p:spPr>
          <a:xfrm>
            <a:off x="6223000" y="3048000"/>
            <a:ext cx="5207000" cy="1206500"/>
          </a:xfrm>
          <a:prstGeom prst="roundRect">
            <a:avLst>
              <a:gd name="adj" fmla="val 842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3302000"/>
            <a:ext cx="508000" cy="5080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7239000" y="32385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2CC"/>
                </a:solidFill>
                <a:latin typeface="Noto Sans SC"/>
                <a:ea typeface="Noto Sans SC"/>
                <a:cs typeface="Noto Sans SC"/>
                <a:sym typeface="Noto Sans SC"/>
              </a:rPr>
              <a:t>组件 2: 语义检索 (Semantic Retrieval)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基于图片描述，在自建知识库中进行相似度匹配，返回Top3最相关的历史故障案例。</a:t>
            </a:r>
          </a:p>
        </p:txBody>
      </p:sp>
      <p:sp>
        <p:nvSpPr>
          <p:cNvPr id="21" name="AutoShape 21"/>
          <p:cNvSpPr/>
          <p:nvPr/>
        </p:nvSpPr>
        <p:spPr>
          <a:xfrm>
            <a:off x="6223000" y="4445000"/>
            <a:ext cx="5207000" cy="1206500"/>
          </a:xfrm>
          <a:prstGeom prst="roundRect">
            <a:avLst>
              <a:gd name="adj" fmla="val 842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4699000"/>
            <a:ext cx="508000" cy="5080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7239000" y="46355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2CC"/>
                </a:solidFill>
                <a:latin typeface="Noto Sans SC"/>
                <a:ea typeface="Noto Sans SC"/>
                <a:cs typeface="Noto Sans SC"/>
                <a:sym typeface="Noto Sans SC"/>
              </a:rPr>
              <a:t>组件 3: 报告生成 (Report Generation)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结合视觉描述、检索案例与打印机型号信息，自动生成标准、可落地的JSON结构化诊断报告。</a:t>
            </a:r>
          </a:p>
        </p:txBody>
      </p:sp>
      <p:sp>
        <p:nvSpPr>
          <p:cNvPr id="24" name="AutoShape 24"/>
          <p:cNvSpPr/>
          <p:nvPr/>
        </p:nvSpPr>
        <p:spPr>
          <a:xfrm>
            <a:off x="6223000" y="5715000"/>
            <a:ext cx="5207000" cy="825500"/>
          </a:xfrm>
          <a:prstGeom prst="roundRect">
            <a:avLst>
              <a:gd name="adj" fmla="val 18461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6223000" y="5867400"/>
            <a:ext cx="520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LangChain 任务编排 • GitHub 版本管理 • Python 全栈开发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sz="3200" b="1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技术选型逻辑与工程化实践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3683000"/>
          </a:xfrm>
          <a:prstGeom prst="roundRect">
            <a:avLst>
              <a:gd name="adj" fmla="val 27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5207000" cy="762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1082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082800"/>
            <a:ext cx="381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52CC"/>
                </a:solidFill>
                <a:latin typeface="Noto Sans SC"/>
                <a:ea typeface="Noto Sans SC"/>
                <a:cs typeface="Noto Sans SC"/>
                <a:sym typeface="Noto Sans SC"/>
              </a:rPr>
              <a:t>先进性 · ADVANCEMENT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794000"/>
            <a:ext cx="4699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16666"/>
              </a:lnSpc>
              <a:defRPr/>
            </a:pPr>
            <a:r>
              <a:rPr lang="zh-CN" altLang="en-US" sz="1600" b="1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多模态 </a:t>
            </a:r>
            <a:r>
              <a:rPr lang="en-US" altLang="zh-CN" sz="1600" b="1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RAG </a:t>
            </a:r>
            <a:r>
              <a:rPr lang="zh-CN" altLang="en-US" sz="1600" b="1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协同</a:t>
            </a:r>
            <a:r>
              <a:rPr lang="zh-CN" altLang="en-US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：采用检索增强生成范式，将视觉描述与知识库案例结合，辅助模型生成更具参考价值的建议。</a:t>
            </a:r>
            <a:endParaRPr lang="en-US" altLang="zh-CN" dirty="0">
              <a:solidFill>
                <a:srgbClr val="1F2937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>
              <a:lnSpc>
                <a:spcPct val="116666"/>
              </a:lnSpc>
              <a:defRPr/>
            </a:pPr>
            <a:endParaRPr lang="en-US" altLang="zh-CN" dirty="0">
              <a:solidFill>
                <a:srgbClr val="1F2937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>
              <a:lnSpc>
                <a:spcPct val="116666"/>
              </a:lnSpc>
              <a:defRPr/>
            </a:pPr>
            <a:r>
              <a:rPr lang="zh-CN" altLang="en-US" sz="1600" b="1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视觉特征提取</a:t>
            </a:r>
            <a:r>
              <a:rPr lang="zh-CN" altLang="en-US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：利用通义千问 </a:t>
            </a:r>
            <a:r>
              <a:rPr lang="en-US" altLang="zh-CN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Qwen-VL </a:t>
            </a:r>
            <a:r>
              <a:rPr lang="zh-CN" altLang="en-US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模型，将图片信息转化为自然语言描述，为后续的语义检索提供非结构化输入。</a:t>
            </a:r>
            <a:endParaRPr lang="en-US" altLang="zh-CN" dirty="0">
              <a:solidFill>
                <a:srgbClr val="1F2937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>
              <a:lnSpc>
                <a:spcPct val="116666"/>
              </a:lnSpc>
              <a:defRPr/>
            </a:pPr>
            <a:endParaRPr lang="en-US" altLang="zh-CN" dirty="0">
              <a:solidFill>
                <a:srgbClr val="1F2937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>
              <a:lnSpc>
                <a:spcPct val="116666"/>
              </a:lnSpc>
              <a:defRPr/>
            </a:pPr>
            <a:r>
              <a:rPr lang="zh-CN" altLang="en-US" sz="1600" b="1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向量空间检索</a:t>
            </a:r>
            <a:r>
              <a:rPr lang="zh-CN" altLang="en-US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：通过 </a:t>
            </a:r>
            <a:r>
              <a:rPr lang="en-US" altLang="zh-CN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text-embedding-v2 </a:t>
            </a:r>
            <a:r>
              <a:rPr lang="zh-CN" altLang="en-US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将描述向量化，在本地 </a:t>
            </a:r>
            <a:r>
              <a:rPr lang="en-US" altLang="zh-CN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ChromaDB</a:t>
            </a:r>
            <a:r>
              <a:rPr lang="en-US" altLang="zh-CN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zh-CN" altLang="en-US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数据库中匹配相似缺陷案例。</a:t>
            </a:r>
            <a:endParaRPr lang="en-US" altLang="zh-CN" sz="1200" dirty="0">
              <a:solidFill>
                <a:srgbClr val="37415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223000" y="1778000"/>
            <a:ext cx="5207000" cy="3683000"/>
          </a:xfrm>
          <a:prstGeom prst="roundRect">
            <a:avLst>
              <a:gd name="adj" fmla="val 27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223000" y="1778000"/>
            <a:ext cx="5207000" cy="762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21082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985000" y="2082800"/>
            <a:ext cx="381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52CC"/>
                </a:solidFill>
                <a:latin typeface="Noto Sans SC"/>
                <a:ea typeface="Noto Sans SC"/>
                <a:cs typeface="Noto Sans SC"/>
                <a:sym typeface="Noto Sans SC"/>
              </a:rPr>
              <a:t>健壮性 · ROBUSTNESS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413500" y="2743200"/>
            <a:ext cx="4826000" cy="271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333"/>
              </a:lnSpc>
              <a:defRPr/>
            </a:pPr>
            <a:r>
              <a:rPr lang="en-US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🔹 </a:t>
            </a:r>
            <a:r>
              <a:rPr lang="en-US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图像预处理管线</a:t>
            </a:r>
            <a:br>
              <a:rPr lang="en-US" b="0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zh-CN" altLang="en-US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内置分辨率检查、白平衡及对比度增强逻辑，过滤低质量输入，提升后端识别的稳定性。</a:t>
            </a:r>
            <a:endParaRPr lang="en-US" altLang="zh-CN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>
              <a:lnSpc>
                <a:spcPct val="108333"/>
              </a:lnSpc>
              <a:defRPr/>
            </a:pPr>
            <a:endParaRPr lang="en-US" b="1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>
              <a:lnSpc>
                <a:spcPct val="108333"/>
              </a:lnSpc>
              <a:defRPr/>
            </a:pPr>
            <a:r>
              <a:rPr lang="en-US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🔹 </a:t>
            </a:r>
            <a:r>
              <a:rPr lang="zh-CN" altLang="en-US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自动化回归测试</a:t>
            </a:r>
            <a:br>
              <a:rPr lang="en-US" altLang="zh-CN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zh-CN" altLang="en-US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 </a:t>
            </a:r>
            <a:r>
              <a:rPr lang="en-US" altLang="zh-CN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pytest</a:t>
            </a:r>
            <a:r>
              <a:rPr lang="en-US" altLang="zh-CN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zh-CN" altLang="en-US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编写全链路测试脚本，覆盖健康检查、诊断生成及反馈入库等核心 </a:t>
            </a:r>
            <a:r>
              <a:rPr lang="en-US" altLang="zh-CN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API </a:t>
            </a:r>
            <a:r>
              <a:rPr lang="zh-CN" altLang="en-US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路径。</a:t>
            </a:r>
            <a:endParaRPr lang="en-US" altLang="zh-CN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>
              <a:lnSpc>
                <a:spcPct val="108333"/>
              </a:lnSpc>
              <a:defRPr/>
            </a:pPr>
            <a:endParaRPr lang="en-US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🔹 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严格数据校验</a:t>
            </a:r>
            <a:b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利用 </a:t>
            </a:r>
            <a:r>
              <a:rPr kumimoji="0" lang="en-US" altLang="zh-CN" b="0" i="0" u="none" strike="noStrike" kern="0" cap="none" spc="0" normalizeH="0" baseline="0" noProof="0" dirty="0" err="1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Pydantic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强制执行 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API </a:t>
            </a: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类型检查，结合 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SQLite </a:t>
            </a: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实现诊断记录与反馈数据的持久化存储。</a:t>
            </a:r>
            <a:r>
              <a:rPr kumimoji="0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>
              <a:lnSpc>
                <a:spcPct val="108333"/>
              </a:lnSpc>
              <a:defRPr/>
            </a:pPr>
            <a:endParaRPr lang="en-US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953500" y="2794000"/>
            <a:ext cx="23495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333"/>
              </a:lnSpc>
              <a:defRPr/>
            </a:pPr>
            <a:endParaRPr lang="en-US" sz="1200" b="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62000" y="5705231"/>
            <a:ext cx="10668000" cy="762000"/>
          </a:xfrm>
          <a:prstGeom prst="roundRect">
            <a:avLst>
              <a:gd name="adj" fmla="val 1000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59182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524000" y="5892800"/>
            <a:ext cx="952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项目全程使用</a:t>
            </a: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Git</a:t>
            </a:r>
            <a:r>
              <a:rPr lang="en-US" sz="14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管理，代码托管于</a:t>
            </a: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GitHub</a:t>
            </a:r>
            <a:r>
              <a:rPr lang="en-US" sz="14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，具备完整 commit 历史，确保开发规范与可追溯性。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3">
            <a:extLst>
              <a:ext uri="{FF2B5EF4-FFF2-40B4-BE49-F238E27FC236}">
                <a16:creationId xmlns:a16="http://schemas.microsoft.com/office/drawing/2014/main" id="{BFC8E97D-9406-5DAA-D0E7-900B5672560C}"/>
              </a:ext>
            </a:extLst>
          </p:cNvPr>
          <p:cNvSpPr/>
          <p:nvPr/>
        </p:nvSpPr>
        <p:spPr>
          <a:xfrm>
            <a:off x="7100971" y="353272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系统当前可运行演示</a:t>
            </a:r>
            <a:endParaRPr lang="en-US" sz="1100" dirty="0"/>
          </a:p>
        </p:txBody>
      </p:sp>
      <p:graphicFrame>
        <p:nvGraphicFramePr>
          <p:cNvPr id="17" name="图示 16">
            <a:extLst>
              <a:ext uri="{FF2B5EF4-FFF2-40B4-BE49-F238E27FC236}">
                <a16:creationId xmlns:a16="http://schemas.microsoft.com/office/drawing/2014/main" id="{FE8BF297-711D-4F01-18EC-3886B56DB3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13527924"/>
              </p:ext>
            </p:extLst>
          </p:nvPr>
        </p:nvGraphicFramePr>
        <p:xfrm>
          <a:off x="7181181" y="1971483"/>
          <a:ext cx="4718719" cy="45332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6" name="图片 15">
            <a:extLst>
              <a:ext uri="{FF2B5EF4-FFF2-40B4-BE49-F238E27FC236}">
                <a16:creationId xmlns:a16="http://schemas.microsoft.com/office/drawing/2014/main" id="{E0716461-4687-5843-F408-E3EEA0C483B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931"/>
          <a:stretch>
            <a:fillRect/>
          </a:stretch>
        </p:blipFill>
        <p:spPr>
          <a:xfrm>
            <a:off x="159283" y="123197"/>
            <a:ext cx="6648573" cy="661160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8" name="AutoShape 10">
            <a:extLst>
              <a:ext uri="{FF2B5EF4-FFF2-40B4-BE49-F238E27FC236}">
                <a16:creationId xmlns:a16="http://schemas.microsoft.com/office/drawing/2014/main" id="{921ADF81-EC44-B911-5C46-5A039E4162E3}"/>
              </a:ext>
            </a:extLst>
          </p:cNvPr>
          <p:cNvSpPr/>
          <p:nvPr/>
        </p:nvSpPr>
        <p:spPr>
          <a:xfrm>
            <a:off x="7100971" y="1110450"/>
            <a:ext cx="5207000" cy="762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69CC21C-DB7B-10BF-9576-2D722AA6BE37}"/>
              </a:ext>
            </a:extLst>
          </p:cNvPr>
          <p:cNvSpPr txBox="1"/>
          <p:nvPr/>
        </p:nvSpPr>
        <p:spPr>
          <a:xfrm>
            <a:off x="7100971" y="1425178"/>
            <a:ext cx="34163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hlinkClick r:id="rId8"/>
              </a:rPr>
              <a:t>https://github.com/Nanase233/print-qa-ai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28228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三个可量化的价值指标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800" y="2286000"/>
            <a:ext cx="457200" cy="457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22606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诊断效率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3048000"/>
            <a:ext cx="2794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16666"/>
              </a:lnSpc>
              <a:defRPr/>
            </a:pPr>
            <a:r>
              <a:rPr lang="en-US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⏱️</a:t>
            </a:r>
            <a:r>
              <a:rPr lang="zh-CN" altLang="en-US" b="1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人工查阅 </a:t>
            </a:r>
            <a:r>
              <a:rPr lang="en-US" altLang="zh-CN" b="1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(15min+) → </a:t>
            </a:r>
            <a:r>
              <a:rPr lang="zh-CN" altLang="en-US" b="1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智能诊断 </a:t>
            </a:r>
            <a:r>
              <a:rPr lang="en-US" altLang="zh-CN" b="1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(&lt; 30s)</a:t>
            </a:r>
            <a:endParaRPr lang="en-US" b="1" i="0" u="none" strike="noStrike" dirty="0">
              <a:solidFill>
                <a:srgbClr val="1F2937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6666"/>
              </a:lnSpc>
              <a:defRPr/>
            </a:pPr>
            <a:endParaRPr lang="en-US" b="1" i="0" u="none" strike="noStrike" dirty="0">
              <a:solidFill>
                <a:srgbClr val="1F2937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>
              <a:lnSpc>
                <a:spcPct val="116666"/>
              </a:lnSpc>
              <a:defRPr/>
            </a:pPr>
            <a:r>
              <a:rPr lang="en-US" altLang="zh-CN" sz="1200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利用智能知识库检索与AI即时生成技术，实现故障响应时间≤30秒，彻底告别传统的人工翻阅文档排查模式，极大压缩单次故障排查周期。</a:t>
            </a:r>
          </a:p>
          <a:p>
            <a:pPr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4445000" y="190500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49800" y="2286000"/>
            <a:ext cx="457200" cy="457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334000" y="22606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诊断准确率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99000" y="3048000"/>
            <a:ext cx="2794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🎯 </a:t>
            </a:r>
            <a:r>
              <a:rPr lang="en-US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目标：原型</a:t>
            </a:r>
            <a:r>
              <a:rPr lang="en-US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 ≥70% / </a:t>
            </a:r>
            <a:r>
              <a:rPr lang="en-US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扩充后</a:t>
            </a:r>
            <a:r>
              <a:rPr lang="en-US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 ≥85%</a:t>
            </a:r>
            <a:endParaRPr lang="en-US" sz="1100" dirty="0"/>
          </a:p>
          <a:p>
            <a:pPr indent="0" algn="l">
              <a:lnSpc>
                <a:spcPct val="125000"/>
              </a:lnSpc>
              <a:spcBef>
                <a:spcPts val="1200"/>
              </a:spcBef>
            </a:pP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基于现有25张测试图已实现</a:t>
            </a:r>
            <a:r>
              <a:rPr lang="en-US" sz="1200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70</a:t>
            </a: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%</a:t>
            </a:r>
            <a:r>
              <a:rPr lang="zh-CN" alt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以上</a:t>
            </a:r>
            <a:r>
              <a:rPr lang="en-US" sz="12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的诊断准确率。通过持续的用户反馈闭环与知识库迭代，准确率将稳步提升，确保诊断结果的高可信度</a:t>
            </a: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8128000" y="190500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32800" y="228600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9017000" y="22606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商业价值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432800" y="2908300"/>
            <a:ext cx="2794000" cy="284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sz="1200" b="1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数据闭环</a:t>
            </a:r>
            <a:r>
              <a:rPr lang="zh-CN" altLang="en-US" sz="1200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：利用内置的反馈统计系统（基于 </a:t>
            </a:r>
            <a:r>
              <a:rPr lang="en-US" altLang="zh-CN" sz="1200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/stats</a:t>
            </a:r>
            <a:r>
              <a:rPr lang="zh-CN" altLang="en-US" sz="1200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接口的 </a:t>
            </a:r>
            <a:r>
              <a:rPr lang="en-US" altLang="zh-CN" sz="1200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Solve Rate </a:t>
            </a:r>
            <a:r>
              <a:rPr lang="zh-CN" altLang="en-US" sz="1200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监控），通过真实的生产数据驱动知识库的增量更新。</a:t>
            </a:r>
            <a:endParaRPr lang="en-US" altLang="zh-CN" sz="1200" dirty="0">
              <a:solidFill>
                <a:srgbClr val="1F2937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>
              <a:lnSpc>
                <a:spcPct val="125000"/>
              </a:lnSpc>
              <a:defRPr/>
            </a:pPr>
            <a:endParaRPr lang="en-US" altLang="zh-CN" sz="1200" dirty="0">
              <a:solidFill>
                <a:srgbClr val="1F2937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>
              <a:lnSpc>
                <a:spcPct val="125000"/>
              </a:lnSpc>
              <a:defRPr/>
            </a:pPr>
            <a:r>
              <a:rPr lang="zh-CN" altLang="en-US" sz="1200" b="1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降本增效</a:t>
            </a:r>
            <a:r>
              <a:rPr lang="zh-CN" altLang="en-US" sz="1200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：通过结构化的专家参数建议（精确到数值），预计可降低 </a:t>
            </a:r>
            <a:r>
              <a:rPr lang="en-US" altLang="zh-CN" sz="1200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10%-15% </a:t>
            </a:r>
            <a:r>
              <a:rPr lang="zh-CN" altLang="en-US" sz="1200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的打印耗材报废率。</a:t>
            </a:r>
            <a:endParaRPr lang="en-US" altLang="zh-CN" sz="1200" dirty="0">
              <a:solidFill>
                <a:srgbClr val="1F2937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>
              <a:lnSpc>
                <a:spcPct val="125000"/>
              </a:lnSpc>
              <a:defRPr/>
            </a:pPr>
            <a:endParaRPr lang="en-US" altLang="zh-CN" sz="1200" b="1" dirty="0">
              <a:solidFill>
                <a:srgbClr val="1F2937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>
              <a:lnSpc>
                <a:spcPct val="125000"/>
              </a:lnSpc>
              <a:defRPr/>
            </a:pPr>
            <a:r>
              <a:rPr lang="zh-CN" altLang="en-US" sz="1200" b="1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低成本部署</a:t>
            </a:r>
            <a:r>
              <a:rPr lang="zh-CN" altLang="en-US" sz="1200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：系统采用轻量化架构（</a:t>
            </a:r>
            <a:r>
              <a:rPr lang="en-US" altLang="zh-CN" sz="1200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FastAPI</a:t>
            </a:r>
            <a:r>
              <a:rPr lang="en-US" altLang="zh-CN" sz="1200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 + SQLite</a:t>
            </a:r>
            <a:r>
              <a:rPr lang="zh-CN" altLang="en-US" sz="1200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），支持 </a:t>
            </a:r>
            <a:r>
              <a:rPr lang="en-US" altLang="zh-CN" sz="1200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SaaS </a:t>
            </a:r>
            <a:r>
              <a:rPr lang="zh-CN" altLang="en-US" sz="1200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化快速部署，有效降低中小型服务商的技术门槛。</a:t>
            </a:r>
            <a:endParaRPr lang="en-US" sz="1200" i="0" u="none" strike="noStrike" dirty="0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458BE-D7C9-A7E5-7D3A-E6C55CB1A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A8B48476-05F9-A2FC-D193-9FF5E0F753E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E17DCAAA-87DA-2810-98DB-C580ADCADD09}"/>
              </a:ext>
            </a:extLst>
          </p:cNvPr>
          <p:cNvSpPr/>
          <p:nvPr/>
        </p:nvSpPr>
        <p:spPr>
          <a:xfrm>
            <a:off x="1016000" y="2565400"/>
            <a:ext cx="1041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>
              <a:lnSpc>
                <a:spcPct val="125000"/>
              </a:lnSpc>
              <a:defRPr/>
            </a:pPr>
            <a:r>
              <a:rPr lang="en-US" altLang="zh-CN" sz="4400" b="1" dirty="0" err="1">
                <a:solidFill>
                  <a:srgbClr val="0052CC"/>
                </a:solidFill>
                <a:latin typeface="Noto Sans SC"/>
                <a:ea typeface="Noto Sans SC"/>
                <a:cs typeface="Noto Sans SC"/>
                <a:sym typeface="Noto Sans SC"/>
              </a:rPr>
              <a:t>PrintQA</a:t>
            </a:r>
            <a:r>
              <a:rPr lang="zh-CN" altLang="en-US" sz="4400" b="1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：让每一台 </a:t>
            </a:r>
            <a:r>
              <a:rPr lang="en-US" altLang="zh-CN" sz="4400" b="1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3D </a:t>
            </a:r>
            <a:r>
              <a:rPr lang="zh-CN" altLang="en-US" sz="4400" b="1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打印机都拥有“专家级”大脑</a:t>
            </a:r>
            <a:endParaRPr lang="en-US" sz="1050"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E0747D8F-6DF6-B7E8-90BA-A420B3ECCBFC}"/>
              </a:ext>
            </a:extLst>
          </p:cNvPr>
          <p:cNvSpPr/>
          <p:nvPr/>
        </p:nvSpPr>
        <p:spPr>
          <a:xfrm>
            <a:off x="1016000" y="4343400"/>
            <a:ext cx="1041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>
              <a:lnSpc>
                <a:spcPct val="125000"/>
              </a:lnSpc>
              <a:defRPr/>
            </a:pPr>
            <a:r>
              <a:rPr lang="zh-CN" altLang="en-US" sz="3000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重塑质量控制标准，终结打印“盲盒”时代。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131012846"/>
      </p:ext>
    </p:extLst>
  </p:cSld>
  <p:clrMapOvr>
    <a:masterClrMapping/>
  </p:clrMapOvr>
</p:sld>
</file>

<file path=ppt/theme/theme1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</TotalTime>
  <Words>1134</Words>
  <Application>Microsoft Office PowerPoint</Application>
  <PresentationFormat>宽屏</PresentationFormat>
  <Paragraphs>148</Paragraphs>
  <Slides>10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3" baseType="lpstr">
      <vt:lpstr>Noto Sans SC</vt:lpstr>
      <vt:lpstr>Arial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Nanase</dc:creator>
  <cp:lastModifiedBy>姠 南</cp:lastModifiedBy>
  <cp:revision>7</cp:revision>
  <dcterms:modified xsi:type="dcterms:W3CDTF">2026-05-10T12:19:05Z</dcterms:modified>
</cp:coreProperties>
</file>